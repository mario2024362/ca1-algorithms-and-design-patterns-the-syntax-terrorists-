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28968192" cy="16294608"/>
  <p:notesSz cx="16294608" cy="2896819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CT College Dublin logo">    </p:cNvPr>
          <p:cNvPicPr>
            <a:picLocks noChangeAspect="1"/>
          </p:cNvPicPr>
          <p:nvPr/>
        </p:nvPicPr>
        <p:blipFill>
          <a:blip r:embed="rId1"/>
          <a:stretch>
            <a:fillRect/>
          </a:stretch>
        </p:blipFill>
        <p:spPr>
          <a:xfrm>
            <a:off x="640080" y="457200"/>
            <a:ext cx="3108960" cy="594716"/>
          </a:xfrm>
          <a:prstGeom prst="rect">
            <a:avLst/>
          </a:prstGeom>
        </p:spPr>
      </p:pic>
      <p:sp>
        <p:nvSpPr>
          <p:cNvPr id="3" name="Text 0"/>
          <p:cNvSpPr txBox="1"/>
          <p:nvPr/>
        </p:nvSpPr>
        <p:spPr>
          <a:xfrm>
            <a:off x="4206240" y="411480"/>
            <a:ext cx="15179040" cy="731520"/>
          </a:xfrm>
          <a:prstGeom prst="rect">
            <a:avLst/>
          </a:prstGeom>
          <a:noFill/>
          <a:ln/>
        </p:spPr>
        <p:txBody>
          <a:bodyPr wrap="square" lIns="0" tIns="0" rIns="0" bIns="0" rtlCol="0" anchor="ctr"/>
          <a:lstStyle/>
          <a:p>
            <a:pPr algn="ctr" indent="0" marL="0">
              <a:buNone/>
            </a:pPr>
            <a:r>
              <a:rPr lang="en-US" sz="3600" b="1" dirty="0">
                <a:solidFill>
                  <a:srgbClr val="2B2D42"/>
                </a:solidFill>
                <a:latin typeface="Arial" pitchFamily="34" charset="0"/>
                <a:ea typeface="Arial" pitchFamily="34" charset="-122"/>
                <a:cs typeface="Arial" pitchFamily="34" charset="-120"/>
              </a:rPr>
              <a:t>Food Storage: a Deque on a Circular Array (Java)</a:t>
            </a:r>
            <a:endParaRPr lang="en-US" sz="3600" dirty="0"/>
          </a:p>
        </p:txBody>
      </p:sp>
      <p:sp>
        <p:nvSpPr>
          <p:cNvPr id="4" name="Text 1"/>
          <p:cNvSpPr txBox="1"/>
          <p:nvPr/>
        </p:nvSpPr>
        <p:spPr>
          <a:xfrm>
            <a:off x="4206240" y="1188720"/>
            <a:ext cx="15179040" cy="411480"/>
          </a:xfrm>
          <a:prstGeom prst="rect">
            <a:avLst/>
          </a:prstGeom>
          <a:noFill/>
          <a:ln/>
        </p:spPr>
        <p:txBody>
          <a:bodyPr wrap="square" lIns="0" tIns="0" rIns="0" bIns="0" rtlCol="0" anchor="t"/>
          <a:lstStyle/>
          <a:p>
            <a:pPr algn="ctr" indent="0" marL="0">
              <a:buNone/>
            </a:pPr>
            <a:r>
              <a:rPr lang="en-US" sz="2000" dirty="0">
                <a:solidFill>
                  <a:srgbClr val="595959"/>
                </a:solidFill>
                <a:latin typeface="Arial" pitchFamily="34" charset="0"/>
                <a:ea typeface="Arial" pitchFamily="34" charset="-122"/>
                <a:cs typeface="Arial" pitchFamily="34" charset="-120"/>
              </a:rPr>
              <a:t>CA1 – Algorithms &amp; Constructs</a:t>
            </a:r>
            <a:endParaRPr lang="en-US" sz="2000" dirty="0"/>
          </a:p>
        </p:txBody>
      </p:sp>
      <p:sp>
        <p:nvSpPr>
          <p:cNvPr id="5" name="Text 2"/>
          <p:cNvSpPr txBox="1"/>
          <p:nvPr/>
        </p:nvSpPr>
        <p:spPr>
          <a:xfrm>
            <a:off x="19751040" y="365760"/>
            <a:ext cx="8595360" cy="1463040"/>
          </a:xfrm>
          <a:prstGeom prst="rect">
            <a:avLst/>
          </a:prstGeom>
          <a:noFill/>
          <a:ln/>
        </p:spPr>
        <p:txBody>
          <a:bodyPr wrap="square" lIns="0" tIns="0" rIns="0" bIns="0" rtlCol="0" anchor="t"/>
          <a:lstStyle/>
          <a:p>
            <a:pPr indent="0" marL="0">
              <a:spcAft>
                <a:spcPts val="200"/>
              </a:spcAft>
              <a:buNone/>
            </a:pPr>
            <a:r>
              <a:rPr lang="en-US" sz="1400" b="1" dirty="0">
                <a:solidFill>
                  <a:srgbClr val="2B2D42"/>
                </a:solidFill>
                <a:latin typeface="Arial" pitchFamily="34" charset="0"/>
                <a:ea typeface="Arial" pitchFamily="34" charset="-122"/>
                <a:cs typeface="Arial" pitchFamily="34" charset="-120"/>
              </a:rPr>
              <a:t>Student: </a:t>
            </a:r>
            <a:pPr indent="0" marL="0">
              <a:spcAft>
                <a:spcPts val="200"/>
              </a:spcAft>
              <a:buNone/>
            </a:pPr>
            <a:r>
              <a:rPr lang="en-US" sz="1400" dirty="0">
                <a:solidFill>
                  <a:srgbClr val="2B2D42"/>
                </a:solidFill>
                <a:latin typeface="Arial" pitchFamily="34" charset="0"/>
                <a:ea typeface="Arial" pitchFamily="34" charset="-122"/>
                <a:cs typeface="Arial" pitchFamily="34" charset="-120"/>
              </a:rPr>
              <a:t>Hugo Gabriel Henriques Viegas</a:t>
            </a:r>
            <a:endParaRPr lang="en-US" sz="1400" dirty="0"/>
          </a:p>
          <a:p>
            <a:pPr indent="0" marL="0">
              <a:spcAft>
                <a:spcPts val="200"/>
              </a:spcAft>
              <a:buNone/>
            </a:pPr>
            <a:r>
              <a:rPr lang="en-US" sz="1400" b="1" dirty="0">
                <a:solidFill>
                  <a:srgbClr val="2B2D42"/>
                </a:solidFill>
                <a:latin typeface="Arial" pitchFamily="34" charset="0"/>
                <a:ea typeface="Arial" pitchFamily="34" charset="-122"/>
                <a:cs typeface="Arial" pitchFamily="34" charset="-120"/>
              </a:rPr>
              <a:t>Lecturer: </a:t>
            </a:r>
            <a:pPr indent="0" marL="0">
              <a:spcAft>
                <a:spcPts val="200"/>
              </a:spcAft>
              <a:buNone/>
            </a:pPr>
            <a:r>
              <a:rPr lang="en-US" sz="1400" dirty="0">
                <a:solidFill>
                  <a:srgbClr val="2B2D42"/>
                </a:solidFill>
                <a:latin typeface="Arial" pitchFamily="34" charset="0"/>
                <a:ea typeface="Arial" pitchFamily="34" charset="-122"/>
                <a:cs typeface="Arial" pitchFamily="34" charset="-120"/>
              </a:rPr>
              <a:t>Muhammad Iqbal</a:t>
            </a:r>
            <a:endParaRPr lang="en-US" sz="1400" dirty="0"/>
          </a:p>
          <a:p>
            <a:pPr indent="0" marL="0">
              <a:spcAft>
                <a:spcPts val="200"/>
              </a:spcAft>
              <a:buNone/>
            </a:pPr>
            <a:r>
              <a:rPr lang="en-US" sz="1400" b="1" dirty="0">
                <a:solidFill>
                  <a:srgbClr val="2B2D42"/>
                </a:solidFill>
                <a:latin typeface="Arial" pitchFamily="34" charset="0"/>
                <a:ea typeface="Arial" pitchFamily="34" charset="-122"/>
                <a:cs typeface="Arial" pitchFamily="34" charset="-120"/>
              </a:rPr>
              <a:t>GitHub: </a:t>
            </a:r>
            <a:pPr indent="0" marL="0">
              <a:spcAft>
                <a:spcPts val="200"/>
              </a:spcAft>
              <a:buNone/>
            </a:pPr>
            <a:r>
              <a:rPr lang="en-US" sz="1400" dirty="0">
                <a:solidFill>
                  <a:srgbClr val="2B2D42"/>
                </a:solidFill>
                <a:highlight>
                  <a:srgbClr val="FFFF00"/>
                </a:highlight>
                <a:latin typeface="Arial" pitchFamily="34" charset="0"/>
                <a:ea typeface="Arial" pitchFamily="34" charset="-122"/>
                <a:cs typeface="Arial" pitchFamily="34" charset="-120"/>
              </a:rPr>
              <a:t>[add your new repository link]</a:t>
            </a:r>
            <a:endParaRPr lang="en-US" sz="1400" dirty="0"/>
          </a:p>
          <a:p>
            <a:pPr indent="0" marL="0">
              <a:spcAft>
                <a:spcPts val="200"/>
              </a:spcAft>
              <a:buNone/>
            </a:pPr>
            <a:r>
              <a:rPr lang="en-US" sz="1400" b="1" dirty="0">
                <a:solidFill>
                  <a:srgbClr val="2B2D42"/>
                </a:solidFill>
                <a:latin typeface="Arial" pitchFamily="34" charset="0"/>
                <a:ea typeface="Arial" pitchFamily="34" charset="-122"/>
                <a:cs typeface="Arial" pitchFamily="34" charset="-120"/>
              </a:rPr>
              <a:t>Video: </a:t>
            </a:r>
            <a:pPr indent="0" marL="0">
              <a:spcAft>
                <a:spcPts val="200"/>
              </a:spcAft>
              <a:buNone/>
            </a:pPr>
            <a:r>
              <a:rPr lang="en-US" sz="1400" dirty="0">
                <a:solidFill>
                  <a:srgbClr val="2B2D42"/>
                </a:solidFill>
                <a:highlight>
                  <a:srgbClr val="FFFF00"/>
                </a:highlight>
                <a:latin typeface="Arial" pitchFamily="34" charset="0"/>
                <a:ea typeface="Arial" pitchFamily="34" charset="-122"/>
                <a:cs typeface="Arial" pitchFamily="34" charset="-120"/>
              </a:rPr>
              <a:t>[add your new video link]</a:t>
            </a:r>
            <a:endParaRPr lang="en-US" sz="1400" dirty="0"/>
          </a:p>
        </p:txBody>
      </p:sp>
      <p:sp>
        <p:nvSpPr>
          <p:cNvPr id="6" name="badge1"/>
          <p:cNvSpPr/>
          <p:nvPr/>
        </p:nvSpPr>
        <p:spPr>
          <a:xfrm>
            <a:off x="640080" y="2194560"/>
            <a:ext cx="502920" cy="502920"/>
          </a:xfrm>
          <a:prstGeom prst="ellipse">
            <a:avLst/>
          </a:prstGeom>
          <a:solidFill>
            <a:srgbClr val="E4572E"/>
          </a:solidFill>
          <a:ln w="12700">
            <a:solidFill>
              <a:srgbClr val="E4572E"/>
            </a:solidFill>
            <a:prstDash val="solid"/>
          </a:ln>
        </p:spPr>
      </p:sp>
      <p:sp>
        <p:nvSpPr>
          <p:cNvPr id="7" name="Text 4"/>
          <p:cNvSpPr txBox="1"/>
          <p:nvPr/>
        </p:nvSpPr>
        <p:spPr>
          <a:xfrm>
            <a:off x="640080" y="21945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8" name="Text 5"/>
          <p:cNvSpPr txBox="1"/>
          <p:nvPr/>
        </p:nvSpPr>
        <p:spPr>
          <a:xfrm>
            <a:off x="1280160" y="2194560"/>
            <a:ext cx="8321040" cy="502920"/>
          </a:xfrm>
          <a:prstGeom prst="rect">
            <a:avLst/>
          </a:prstGeom>
          <a:noFill/>
          <a:ln/>
        </p:spPr>
        <p:txBody>
          <a:bodyPr wrap="square" lIns="0" tIns="0" rIns="0" bIns="0" rtlCol="0" anchor="ctr"/>
          <a:lstStyle/>
          <a:p>
            <a:pPr indent="0" marL="0">
              <a:buNone/>
            </a:pPr>
            <a:r>
              <a:rPr lang="en-US" sz="2400" b="1" dirty="0">
                <a:solidFill>
                  <a:srgbClr val="2B2D42"/>
                </a:solidFill>
                <a:latin typeface="Arial" pitchFamily="34" charset="0"/>
                <a:ea typeface="Arial" pitchFamily="34" charset="-122"/>
                <a:cs typeface="Arial" pitchFamily="34" charset="-120"/>
              </a:rPr>
              <a:t>The problem</a:t>
            </a:r>
            <a:endParaRPr lang="en-US" sz="2400" dirty="0"/>
          </a:p>
        </p:txBody>
      </p:sp>
      <p:sp>
        <p:nvSpPr>
          <p:cNvPr id="9" name="Text 6"/>
          <p:cNvSpPr txBox="1"/>
          <p:nvPr/>
        </p:nvSpPr>
        <p:spPr>
          <a:xfrm>
            <a:off x="640080" y="2834640"/>
            <a:ext cx="8961120" cy="1463040"/>
          </a:xfrm>
          <a:prstGeom prst="rect">
            <a:avLst/>
          </a:prstGeom>
          <a:noFill/>
          <a:ln/>
        </p:spPr>
        <p:txBody>
          <a:bodyPr wrap="square" lIns="0" tIns="0" rIns="0" bIns="0" rtlCol="0" anchor="t"/>
          <a:lstStyle/>
          <a:p>
            <a:pPr indent="0" marL="0">
              <a:buNone/>
            </a:pPr>
            <a:r>
              <a:rPr lang="en-US" sz="1700" dirty="0">
                <a:solidFill>
                  <a:srgbClr val="2B2D42"/>
                </a:solidFill>
                <a:latin typeface="Arial" pitchFamily="34" charset="0"/>
                <a:ea typeface="Arial" pitchFamily="34" charset="-122"/>
                <a:cs typeface="Arial" pitchFamily="34" charset="-120"/>
              </a:rPr>
              <a:t>A food storage can hold at most 8 items. Each item has a name, a weight in grams and a best-before date (within 2 weeks). New items go in at the front, and items can be removed from the front or the back. The app must show the top item, reject invalid input, handle an empty storage and let the user exit.</a:t>
            </a:r>
            <a:endParaRPr lang="en-US" sz="1700" dirty="0"/>
          </a:p>
        </p:txBody>
      </p:sp>
      <p:sp>
        <p:nvSpPr>
          <p:cNvPr id="10" name="ringCard"/>
          <p:cNvSpPr/>
          <p:nvPr/>
        </p:nvSpPr>
        <p:spPr>
          <a:xfrm>
            <a:off x="640080" y="4343400"/>
            <a:ext cx="8961120" cy="4572000"/>
          </a:xfrm>
          <a:prstGeom prst="roundRect">
            <a:avLst>
              <a:gd name="adj" fmla="val 2400"/>
            </a:avLst>
          </a:prstGeom>
          <a:solidFill>
            <a:srgbClr val="F2F2F4"/>
          </a:solidFill>
          <a:ln w="12700">
            <a:solidFill>
              <a:srgbClr val="F2F2F4"/>
            </a:solidFill>
            <a:prstDash val="solid"/>
          </a:ln>
        </p:spPr>
      </p:sp>
      <p:sp>
        <p:nvSpPr>
          <p:cNvPr id="11" name="Text 8"/>
          <p:cNvSpPr txBox="1"/>
          <p:nvPr/>
        </p:nvSpPr>
        <p:spPr>
          <a:xfrm>
            <a:off x="914400" y="4480560"/>
            <a:ext cx="8412480" cy="365760"/>
          </a:xfrm>
          <a:prstGeom prst="rect">
            <a:avLst/>
          </a:prstGeom>
          <a:noFill/>
          <a:ln/>
        </p:spPr>
        <p:txBody>
          <a:bodyPr wrap="square" lIns="0" tIns="0" rIns="0" bIns="0" rtlCol="0" anchor="t"/>
          <a:lstStyle/>
          <a:p>
            <a:pPr indent="0" marL="0">
              <a:buNone/>
            </a:pPr>
            <a:r>
              <a:rPr lang="en-US" sz="1500" b="1" dirty="0">
                <a:solidFill>
                  <a:srgbClr val="2B2D42"/>
                </a:solidFill>
                <a:latin typeface="Arial" pitchFamily="34" charset="0"/>
                <a:ea typeface="Arial" pitchFamily="34" charset="-122"/>
                <a:cs typeface="Arial" pitchFamily="34" charset="-120"/>
              </a:rPr>
              <a:t>Visual: the storage as a ring (after adding Pizza, Burger, Fries)</a:t>
            </a:r>
            <a:endParaRPr lang="en-US" sz="1500" dirty="0"/>
          </a:p>
        </p:txBody>
      </p:sp>
      <p:sp>
        <p:nvSpPr>
          <p:cNvPr id="12" name="slot0"/>
          <p:cNvSpPr/>
          <p:nvPr/>
        </p:nvSpPr>
        <p:spPr>
          <a:xfrm>
            <a:off x="4709160" y="4846320"/>
            <a:ext cx="822960" cy="822960"/>
          </a:xfrm>
          <a:prstGeom prst="ellipse">
            <a:avLst/>
          </a:prstGeom>
          <a:solidFill>
            <a:srgbClr val="FFFFFF"/>
          </a:solidFill>
          <a:ln w="19050">
            <a:solidFill>
              <a:srgbClr val="BFBFBF"/>
            </a:solidFill>
            <a:prstDash val="solid"/>
          </a:ln>
        </p:spPr>
      </p:sp>
      <p:sp>
        <p:nvSpPr>
          <p:cNvPr id="13" name="Text 10"/>
          <p:cNvSpPr txBox="1"/>
          <p:nvPr/>
        </p:nvSpPr>
        <p:spPr>
          <a:xfrm>
            <a:off x="4709160" y="4846320"/>
            <a:ext cx="822960" cy="822960"/>
          </a:xfrm>
          <a:prstGeom prst="rect">
            <a:avLst/>
          </a:prstGeom>
          <a:noFill/>
          <a:ln/>
        </p:spPr>
        <p:txBody>
          <a:bodyPr wrap="square" lIns="0" tIns="0" rIns="0" bIns="0" rtlCol="0" anchor="ctr"/>
          <a:lstStyle/>
          <a:p>
            <a:pPr algn="ctr" indent="0" marL="0">
              <a:buNone/>
            </a:pPr>
            <a:r>
              <a:rPr lang="en-US" sz="1400" dirty="0">
                <a:solidFill>
                  <a:srgbClr val="595959"/>
                </a:solidFill>
                <a:latin typeface="Arial" pitchFamily="34" charset="0"/>
                <a:ea typeface="Arial" pitchFamily="34" charset="-122"/>
                <a:cs typeface="Arial" pitchFamily="34" charset="-120"/>
              </a:rPr>
              <a:t>0</a:t>
            </a:r>
            <a:endParaRPr lang="en-US" sz="1400" dirty="0"/>
          </a:p>
        </p:txBody>
      </p:sp>
      <p:sp>
        <p:nvSpPr>
          <p:cNvPr id="14" name="slot1"/>
          <p:cNvSpPr/>
          <p:nvPr/>
        </p:nvSpPr>
        <p:spPr>
          <a:xfrm>
            <a:off x="5743686" y="5274834"/>
            <a:ext cx="822960" cy="822960"/>
          </a:xfrm>
          <a:prstGeom prst="ellipse">
            <a:avLst/>
          </a:prstGeom>
          <a:solidFill>
            <a:srgbClr val="FFFFFF"/>
          </a:solidFill>
          <a:ln w="19050">
            <a:solidFill>
              <a:srgbClr val="BFBFBF"/>
            </a:solidFill>
            <a:prstDash val="solid"/>
          </a:ln>
        </p:spPr>
      </p:sp>
      <p:sp>
        <p:nvSpPr>
          <p:cNvPr id="15" name="Text 12"/>
          <p:cNvSpPr txBox="1"/>
          <p:nvPr/>
        </p:nvSpPr>
        <p:spPr>
          <a:xfrm>
            <a:off x="5743686" y="5274834"/>
            <a:ext cx="822960" cy="822960"/>
          </a:xfrm>
          <a:prstGeom prst="rect">
            <a:avLst/>
          </a:prstGeom>
          <a:noFill/>
          <a:ln/>
        </p:spPr>
        <p:txBody>
          <a:bodyPr wrap="square" lIns="0" tIns="0" rIns="0" bIns="0" rtlCol="0" anchor="ctr"/>
          <a:lstStyle/>
          <a:p>
            <a:pPr algn="ctr" indent="0" marL="0">
              <a:buNone/>
            </a:pPr>
            <a:r>
              <a:rPr lang="en-US" sz="1400" dirty="0">
                <a:solidFill>
                  <a:srgbClr val="595959"/>
                </a:solidFill>
                <a:latin typeface="Arial" pitchFamily="34" charset="0"/>
                <a:ea typeface="Arial" pitchFamily="34" charset="-122"/>
                <a:cs typeface="Arial" pitchFamily="34" charset="-120"/>
              </a:rPr>
              <a:t>1</a:t>
            </a:r>
            <a:endParaRPr lang="en-US" sz="1400" dirty="0"/>
          </a:p>
        </p:txBody>
      </p:sp>
      <p:sp>
        <p:nvSpPr>
          <p:cNvPr id="16" name="slot2"/>
          <p:cNvSpPr/>
          <p:nvPr/>
        </p:nvSpPr>
        <p:spPr>
          <a:xfrm>
            <a:off x="6172200" y="6309360"/>
            <a:ext cx="822960" cy="822960"/>
          </a:xfrm>
          <a:prstGeom prst="ellipse">
            <a:avLst/>
          </a:prstGeom>
          <a:solidFill>
            <a:srgbClr val="FFFFFF"/>
          </a:solidFill>
          <a:ln w="19050">
            <a:solidFill>
              <a:srgbClr val="BFBFBF"/>
            </a:solidFill>
            <a:prstDash val="solid"/>
          </a:ln>
        </p:spPr>
      </p:sp>
      <p:sp>
        <p:nvSpPr>
          <p:cNvPr id="17" name="Text 14"/>
          <p:cNvSpPr txBox="1"/>
          <p:nvPr/>
        </p:nvSpPr>
        <p:spPr>
          <a:xfrm>
            <a:off x="6172200" y="6309360"/>
            <a:ext cx="822960" cy="822960"/>
          </a:xfrm>
          <a:prstGeom prst="rect">
            <a:avLst/>
          </a:prstGeom>
          <a:noFill/>
          <a:ln/>
        </p:spPr>
        <p:txBody>
          <a:bodyPr wrap="square" lIns="0" tIns="0" rIns="0" bIns="0" rtlCol="0" anchor="ctr"/>
          <a:lstStyle/>
          <a:p>
            <a:pPr algn="ctr" indent="0" marL="0">
              <a:buNone/>
            </a:pPr>
            <a:r>
              <a:rPr lang="en-US" sz="1400" dirty="0">
                <a:solidFill>
                  <a:srgbClr val="595959"/>
                </a:solidFill>
                <a:latin typeface="Arial" pitchFamily="34" charset="0"/>
                <a:ea typeface="Arial" pitchFamily="34" charset="-122"/>
                <a:cs typeface="Arial" pitchFamily="34" charset="-120"/>
              </a:rPr>
              <a:t>2</a:t>
            </a:r>
            <a:endParaRPr lang="en-US" sz="1400" dirty="0"/>
          </a:p>
        </p:txBody>
      </p:sp>
      <p:sp>
        <p:nvSpPr>
          <p:cNvPr id="18" name="slot3"/>
          <p:cNvSpPr/>
          <p:nvPr/>
        </p:nvSpPr>
        <p:spPr>
          <a:xfrm>
            <a:off x="5743686" y="7343886"/>
            <a:ext cx="822960" cy="822960"/>
          </a:xfrm>
          <a:prstGeom prst="ellipse">
            <a:avLst/>
          </a:prstGeom>
          <a:solidFill>
            <a:srgbClr val="FFFFFF"/>
          </a:solidFill>
          <a:ln w="19050">
            <a:solidFill>
              <a:srgbClr val="BFBFBF"/>
            </a:solidFill>
            <a:prstDash val="solid"/>
          </a:ln>
        </p:spPr>
      </p:sp>
      <p:sp>
        <p:nvSpPr>
          <p:cNvPr id="19" name="Text 16"/>
          <p:cNvSpPr txBox="1"/>
          <p:nvPr/>
        </p:nvSpPr>
        <p:spPr>
          <a:xfrm>
            <a:off x="5743686" y="7343886"/>
            <a:ext cx="822960" cy="822960"/>
          </a:xfrm>
          <a:prstGeom prst="rect">
            <a:avLst/>
          </a:prstGeom>
          <a:noFill/>
          <a:ln/>
        </p:spPr>
        <p:txBody>
          <a:bodyPr wrap="square" lIns="0" tIns="0" rIns="0" bIns="0" rtlCol="0" anchor="ctr"/>
          <a:lstStyle/>
          <a:p>
            <a:pPr algn="ctr" indent="0" marL="0">
              <a:buNone/>
            </a:pPr>
            <a:r>
              <a:rPr lang="en-US" sz="1400" dirty="0">
                <a:solidFill>
                  <a:srgbClr val="595959"/>
                </a:solidFill>
                <a:latin typeface="Arial" pitchFamily="34" charset="0"/>
                <a:ea typeface="Arial" pitchFamily="34" charset="-122"/>
                <a:cs typeface="Arial" pitchFamily="34" charset="-120"/>
              </a:rPr>
              <a:t>3</a:t>
            </a:r>
            <a:endParaRPr lang="en-US" sz="1400" dirty="0"/>
          </a:p>
        </p:txBody>
      </p:sp>
      <p:sp>
        <p:nvSpPr>
          <p:cNvPr id="20" name="slot4"/>
          <p:cNvSpPr/>
          <p:nvPr/>
        </p:nvSpPr>
        <p:spPr>
          <a:xfrm>
            <a:off x="4709160" y="7772400"/>
            <a:ext cx="822960" cy="822960"/>
          </a:xfrm>
          <a:prstGeom prst="ellipse">
            <a:avLst/>
          </a:prstGeom>
          <a:solidFill>
            <a:srgbClr val="FFFFFF"/>
          </a:solidFill>
          <a:ln w="19050">
            <a:solidFill>
              <a:srgbClr val="BFBFBF"/>
            </a:solidFill>
            <a:prstDash val="solid"/>
          </a:ln>
        </p:spPr>
      </p:sp>
      <p:sp>
        <p:nvSpPr>
          <p:cNvPr id="21" name="Text 18"/>
          <p:cNvSpPr txBox="1"/>
          <p:nvPr/>
        </p:nvSpPr>
        <p:spPr>
          <a:xfrm>
            <a:off x="4709160" y="7772400"/>
            <a:ext cx="822960" cy="822960"/>
          </a:xfrm>
          <a:prstGeom prst="rect">
            <a:avLst/>
          </a:prstGeom>
          <a:noFill/>
          <a:ln/>
        </p:spPr>
        <p:txBody>
          <a:bodyPr wrap="square" lIns="0" tIns="0" rIns="0" bIns="0" rtlCol="0" anchor="ctr"/>
          <a:lstStyle/>
          <a:p>
            <a:pPr algn="ctr" indent="0" marL="0">
              <a:buNone/>
            </a:pPr>
            <a:r>
              <a:rPr lang="en-US" sz="1400" dirty="0">
                <a:solidFill>
                  <a:srgbClr val="595959"/>
                </a:solidFill>
                <a:latin typeface="Arial" pitchFamily="34" charset="0"/>
                <a:ea typeface="Arial" pitchFamily="34" charset="-122"/>
                <a:cs typeface="Arial" pitchFamily="34" charset="-120"/>
              </a:rPr>
              <a:t>4</a:t>
            </a:r>
            <a:endParaRPr lang="en-US" sz="1400" dirty="0"/>
          </a:p>
        </p:txBody>
      </p:sp>
      <p:sp>
        <p:nvSpPr>
          <p:cNvPr id="22" name="slot5"/>
          <p:cNvSpPr/>
          <p:nvPr/>
        </p:nvSpPr>
        <p:spPr>
          <a:xfrm>
            <a:off x="3674634" y="7343886"/>
            <a:ext cx="822960" cy="822960"/>
          </a:xfrm>
          <a:prstGeom prst="ellipse">
            <a:avLst/>
          </a:prstGeom>
          <a:solidFill>
            <a:srgbClr val="E4572E"/>
          </a:solidFill>
          <a:ln w="19050">
            <a:solidFill>
              <a:srgbClr val="E4572E"/>
            </a:solidFill>
            <a:prstDash val="solid"/>
          </a:ln>
        </p:spPr>
      </p:sp>
      <p:sp>
        <p:nvSpPr>
          <p:cNvPr id="23" name="Text 20"/>
          <p:cNvSpPr txBox="1"/>
          <p:nvPr/>
        </p:nvSpPr>
        <p:spPr>
          <a:xfrm>
            <a:off x="3674634" y="7343886"/>
            <a:ext cx="82296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Fries</a:t>
            </a:r>
            <a:endParaRPr lang="en-US" sz="1200" dirty="0"/>
          </a:p>
          <a:p>
            <a:pPr algn="ctr" indent="0" marL="0">
              <a:buNone/>
            </a:pPr>
            <a:r>
              <a:rPr lang="en-US" sz="1000" dirty="0">
                <a:solidFill>
                  <a:srgbClr val="FFFFFF"/>
                </a:solidFill>
                <a:latin typeface="Arial" pitchFamily="34" charset="0"/>
                <a:ea typeface="Arial" pitchFamily="34" charset="-122"/>
                <a:cs typeface="Arial" pitchFamily="34" charset="-120"/>
              </a:rPr>
              <a:t>[5]</a:t>
            </a:r>
            <a:endParaRPr lang="en-US" sz="1200" dirty="0"/>
          </a:p>
        </p:txBody>
      </p:sp>
      <p:sp>
        <p:nvSpPr>
          <p:cNvPr id="24" name="slot6"/>
          <p:cNvSpPr/>
          <p:nvPr/>
        </p:nvSpPr>
        <p:spPr>
          <a:xfrm>
            <a:off x="3246120" y="6309360"/>
            <a:ext cx="822960" cy="822960"/>
          </a:xfrm>
          <a:prstGeom prst="ellipse">
            <a:avLst/>
          </a:prstGeom>
          <a:solidFill>
            <a:srgbClr val="E4572E"/>
          </a:solidFill>
          <a:ln w="19050">
            <a:solidFill>
              <a:srgbClr val="E4572E"/>
            </a:solidFill>
            <a:prstDash val="solid"/>
          </a:ln>
        </p:spPr>
      </p:sp>
      <p:sp>
        <p:nvSpPr>
          <p:cNvPr id="25" name="Text 22"/>
          <p:cNvSpPr txBox="1"/>
          <p:nvPr/>
        </p:nvSpPr>
        <p:spPr>
          <a:xfrm>
            <a:off x="3246120" y="6309360"/>
            <a:ext cx="82296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Burger</a:t>
            </a:r>
            <a:endParaRPr lang="en-US" sz="1200" dirty="0"/>
          </a:p>
          <a:p>
            <a:pPr algn="ctr" indent="0" marL="0">
              <a:buNone/>
            </a:pPr>
            <a:r>
              <a:rPr lang="en-US" sz="1000" dirty="0">
                <a:solidFill>
                  <a:srgbClr val="FFFFFF"/>
                </a:solidFill>
                <a:latin typeface="Arial" pitchFamily="34" charset="0"/>
                <a:ea typeface="Arial" pitchFamily="34" charset="-122"/>
                <a:cs typeface="Arial" pitchFamily="34" charset="-120"/>
              </a:rPr>
              <a:t>[6]</a:t>
            </a:r>
            <a:endParaRPr lang="en-US" sz="1200" dirty="0"/>
          </a:p>
        </p:txBody>
      </p:sp>
      <p:sp>
        <p:nvSpPr>
          <p:cNvPr id="26" name="slot7"/>
          <p:cNvSpPr/>
          <p:nvPr/>
        </p:nvSpPr>
        <p:spPr>
          <a:xfrm>
            <a:off x="3674634" y="5274834"/>
            <a:ext cx="822960" cy="822960"/>
          </a:xfrm>
          <a:prstGeom prst="ellipse">
            <a:avLst/>
          </a:prstGeom>
          <a:solidFill>
            <a:srgbClr val="E4572E"/>
          </a:solidFill>
          <a:ln w="19050">
            <a:solidFill>
              <a:srgbClr val="E4572E"/>
            </a:solidFill>
            <a:prstDash val="solid"/>
          </a:ln>
        </p:spPr>
      </p:sp>
      <p:sp>
        <p:nvSpPr>
          <p:cNvPr id="27" name="Text 24"/>
          <p:cNvSpPr txBox="1"/>
          <p:nvPr/>
        </p:nvSpPr>
        <p:spPr>
          <a:xfrm>
            <a:off x="3674634" y="5274834"/>
            <a:ext cx="82296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Pizza</a:t>
            </a:r>
            <a:endParaRPr lang="en-US" sz="1200" dirty="0"/>
          </a:p>
          <a:p>
            <a:pPr algn="ctr" indent="0" marL="0">
              <a:buNone/>
            </a:pPr>
            <a:r>
              <a:rPr lang="en-US" sz="1000" dirty="0">
                <a:solidFill>
                  <a:srgbClr val="FFFFFF"/>
                </a:solidFill>
                <a:latin typeface="Arial" pitchFamily="34" charset="0"/>
                <a:ea typeface="Arial" pitchFamily="34" charset="-122"/>
                <a:cs typeface="Arial" pitchFamily="34" charset="-120"/>
              </a:rPr>
              <a:t>[7]</a:t>
            </a:r>
            <a:endParaRPr lang="en-US" sz="1200" dirty="0"/>
          </a:p>
        </p:txBody>
      </p:sp>
      <p:sp>
        <p:nvSpPr>
          <p:cNvPr id="28" name="Text 25"/>
          <p:cNvSpPr txBox="1"/>
          <p:nvPr/>
        </p:nvSpPr>
        <p:spPr>
          <a:xfrm>
            <a:off x="4206240" y="6355080"/>
            <a:ext cx="1828800" cy="731520"/>
          </a:xfrm>
          <a:prstGeom prst="rect">
            <a:avLst/>
          </a:prstGeom>
          <a:noFill/>
          <a:ln/>
        </p:spPr>
        <p:txBody>
          <a:bodyPr wrap="square" lIns="0" tIns="0" rIns="0" bIns="0" rtlCol="0" anchor="ctr"/>
          <a:lstStyle/>
          <a:p>
            <a:pPr algn="ctr" indent="0" marL="0">
              <a:buNone/>
            </a:pPr>
            <a:r>
              <a:rPr lang="en-US" sz="1300" dirty="0">
                <a:solidFill>
                  <a:srgbClr val="595959"/>
                </a:solidFill>
                <a:latin typeface="Arial" pitchFamily="34" charset="0"/>
                <a:ea typeface="Arial" pitchFamily="34" charset="-122"/>
                <a:cs typeface="Arial" pitchFamily="34" charset="-120"/>
              </a:rPr>
              <a:t>array of 8 slots</a:t>
            </a:r>
            <a:endParaRPr lang="en-US" sz="1300" dirty="0"/>
          </a:p>
          <a:p>
            <a:pPr algn="ctr" indent="0" marL="0">
              <a:buNone/>
            </a:pPr>
            <a:r>
              <a:rPr lang="en-US" sz="1300" dirty="0">
                <a:solidFill>
                  <a:srgbClr val="595959"/>
                </a:solidFill>
                <a:latin typeface="Arial" pitchFamily="34" charset="0"/>
                <a:ea typeface="Arial" pitchFamily="34" charset="-122"/>
                <a:cs typeface="Arial" pitchFamily="34" charset="-120"/>
              </a:rPr>
              <a:t>(circular)</a:t>
            </a:r>
            <a:endParaRPr lang="en-US" sz="1300" dirty="0"/>
          </a:p>
        </p:txBody>
      </p:sp>
      <p:sp>
        <p:nvSpPr>
          <p:cNvPr id="29" name="Text 26"/>
          <p:cNvSpPr txBox="1"/>
          <p:nvPr/>
        </p:nvSpPr>
        <p:spPr>
          <a:xfrm>
            <a:off x="1719072" y="5330952"/>
            <a:ext cx="1828800" cy="640080"/>
          </a:xfrm>
          <a:prstGeom prst="rect">
            <a:avLst/>
          </a:prstGeom>
          <a:noFill/>
          <a:ln/>
        </p:spPr>
        <p:txBody>
          <a:bodyPr wrap="square" lIns="0" tIns="0" rIns="0" bIns="0" rtlCol="0" anchor="ctr"/>
          <a:lstStyle/>
          <a:p>
            <a:pPr algn="r" indent="0" marL="0">
              <a:buNone/>
            </a:pPr>
            <a:r>
              <a:rPr lang="en-US" sz="1600" b="1" dirty="0">
                <a:solidFill>
                  <a:srgbClr val="E4572E"/>
                </a:solidFill>
                <a:latin typeface="Arial" pitchFamily="34" charset="0"/>
                <a:ea typeface="Arial" pitchFamily="34" charset="-122"/>
                <a:cs typeface="Arial" pitchFamily="34" charset="-120"/>
              </a:rPr>
              <a:t>BACK</a:t>
            </a:r>
            <a:endParaRPr lang="en-US" sz="1600" dirty="0"/>
          </a:p>
          <a:p>
            <a:pPr algn="r" indent="0" marL="0">
              <a:buNone/>
            </a:pPr>
            <a:r>
              <a:rPr lang="en-US" sz="1300" dirty="0">
                <a:solidFill>
                  <a:srgbClr val="2B2D42"/>
                </a:solidFill>
                <a:latin typeface="Arial" pitchFamily="34" charset="0"/>
                <a:ea typeface="Arial" pitchFamily="34" charset="-122"/>
                <a:cs typeface="Arial" pitchFamily="34" charset="-120"/>
              </a:rPr>
              <a:t>remove back here</a:t>
            </a:r>
            <a:endParaRPr lang="en-US" sz="1600" dirty="0"/>
          </a:p>
        </p:txBody>
      </p:sp>
      <p:sp>
        <p:nvSpPr>
          <p:cNvPr id="30" name="Text 27"/>
          <p:cNvSpPr txBox="1"/>
          <p:nvPr/>
        </p:nvSpPr>
        <p:spPr>
          <a:xfrm>
            <a:off x="1581912" y="7470648"/>
            <a:ext cx="1965960" cy="640080"/>
          </a:xfrm>
          <a:prstGeom prst="rect">
            <a:avLst/>
          </a:prstGeom>
          <a:noFill/>
          <a:ln/>
        </p:spPr>
        <p:txBody>
          <a:bodyPr wrap="square" lIns="0" tIns="0" rIns="0" bIns="0" rtlCol="0" anchor="ctr"/>
          <a:lstStyle/>
          <a:p>
            <a:pPr algn="r" indent="0" marL="0">
              <a:buNone/>
            </a:pPr>
            <a:r>
              <a:rPr lang="en-US" sz="1600" b="1" dirty="0">
                <a:solidFill>
                  <a:srgbClr val="E4572E"/>
                </a:solidFill>
                <a:latin typeface="Arial" pitchFamily="34" charset="0"/>
                <a:ea typeface="Arial" pitchFamily="34" charset="-122"/>
                <a:cs typeface="Arial" pitchFamily="34" charset="-120"/>
              </a:rPr>
              <a:t>FRONT</a:t>
            </a:r>
            <a:endParaRPr lang="en-US" sz="1600" dirty="0"/>
          </a:p>
          <a:p>
            <a:pPr algn="r" indent="0" marL="0">
              <a:buNone/>
            </a:pPr>
            <a:r>
              <a:rPr lang="en-US" sz="1300" dirty="0">
                <a:solidFill>
                  <a:srgbClr val="2B2D42"/>
                </a:solidFill>
                <a:latin typeface="Arial" pitchFamily="34" charset="0"/>
                <a:ea typeface="Arial" pitchFamily="34" charset="-122"/>
                <a:cs typeface="Arial" pitchFamily="34" charset="-120"/>
              </a:rPr>
              <a:t>add / remove / peek here</a:t>
            </a:r>
            <a:endParaRPr lang="en-US" sz="1600" dirty="0"/>
          </a:p>
        </p:txBody>
      </p:sp>
      <p:sp>
        <p:nvSpPr>
          <p:cNvPr id="31" name="Text 28"/>
          <p:cNvSpPr txBox="1"/>
          <p:nvPr/>
        </p:nvSpPr>
        <p:spPr>
          <a:xfrm>
            <a:off x="7269480" y="6263640"/>
            <a:ext cx="2286000" cy="914400"/>
          </a:xfrm>
          <a:prstGeom prst="rect">
            <a:avLst/>
          </a:prstGeom>
          <a:noFill/>
          <a:ln/>
        </p:spPr>
        <p:txBody>
          <a:bodyPr wrap="square" lIns="0" tIns="0" rIns="0" bIns="0" rtlCol="0" anchor="ctr"/>
          <a:lstStyle/>
          <a:p>
            <a:pPr indent="0" marL="0">
              <a:buNone/>
            </a:pPr>
            <a:r>
              <a:rPr lang="en-US" sz="1300" dirty="0">
                <a:solidFill>
                  <a:srgbClr val="2B2D42"/>
                </a:solidFill>
                <a:latin typeface="Courier New" pitchFamily="34" charset="0"/>
                <a:ea typeface="Courier New" pitchFamily="34" charset="-122"/>
                <a:cs typeface="Courier New" pitchFamily="34" charset="-120"/>
              </a:rPr>
              <a:t>front = 5</a:t>
            </a:r>
            <a:endParaRPr lang="en-US" sz="1300" dirty="0"/>
          </a:p>
          <a:p>
            <a:pPr indent="0" marL="0">
              <a:buNone/>
            </a:pPr>
            <a:r>
              <a:rPr lang="en-US" sz="1300" dirty="0">
                <a:solidFill>
                  <a:srgbClr val="2B2D42"/>
                </a:solidFill>
                <a:latin typeface="Courier New" pitchFamily="34" charset="0"/>
                <a:ea typeface="Courier New" pitchFamily="34" charset="-122"/>
                <a:cs typeface="Courier New" pitchFamily="34" charset="-120"/>
              </a:rPr>
              <a:t>count = 3</a:t>
            </a:r>
            <a:endParaRPr lang="en-US" sz="1300" dirty="0"/>
          </a:p>
          <a:p>
            <a:pPr indent="0" marL="0">
              <a:buNone/>
            </a:pPr>
            <a:r>
              <a:rPr lang="en-US" sz="1300" dirty="0">
                <a:solidFill>
                  <a:srgbClr val="2B2D42"/>
                </a:solidFill>
                <a:latin typeface="Courier New" pitchFamily="34" charset="0"/>
                <a:ea typeface="Courier New" pitchFamily="34" charset="-122"/>
                <a:cs typeface="Courier New" pitchFamily="34" charset="-120"/>
              </a:rPr>
              <a:t>back  = (5+3-1)%8 = 7</a:t>
            </a:r>
            <a:endParaRPr lang="en-US" sz="1300" dirty="0"/>
          </a:p>
        </p:txBody>
      </p:sp>
      <p:sp>
        <p:nvSpPr>
          <p:cNvPr id="32" name="Text 29"/>
          <p:cNvSpPr txBox="1"/>
          <p:nvPr/>
        </p:nvSpPr>
        <p:spPr>
          <a:xfrm>
            <a:off x="914400" y="8595360"/>
            <a:ext cx="8412480" cy="274320"/>
          </a:xfrm>
          <a:prstGeom prst="rect">
            <a:avLst/>
          </a:prstGeom>
          <a:noFill/>
          <a:ln/>
        </p:spPr>
        <p:txBody>
          <a:bodyPr wrap="square" lIns="0" tIns="0" rIns="0" bIns="0" rtlCol="0" anchor="t"/>
          <a:lstStyle/>
          <a:p>
            <a:pPr indent="0" marL="0">
              <a:buNone/>
            </a:pPr>
            <a:r>
              <a:rPr lang="en-US" sz="1200" dirty="0">
                <a:solidFill>
                  <a:srgbClr val="595959"/>
                </a:solidFill>
                <a:latin typeface="Arial" pitchFamily="34" charset="0"/>
                <a:ea typeface="Arial" pitchFamily="34" charset="-122"/>
                <a:cs typeface="Arial" pitchFamily="34" charset="-120"/>
              </a:rPr>
              <a:t>Shaded = stored item. Number in brackets = array slot.</a:t>
            </a:r>
            <a:endParaRPr lang="en-US" sz="1200" dirty="0"/>
          </a:p>
        </p:txBody>
      </p:sp>
      <p:sp>
        <p:nvSpPr>
          <p:cNvPr id="33" name="badge2"/>
          <p:cNvSpPr/>
          <p:nvPr/>
        </p:nvSpPr>
        <p:spPr>
          <a:xfrm>
            <a:off x="640080" y="9189720"/>
            <a:ext cx="502920" cy="502920"/>
          </a:xfrm>
          <a:prstGeom prst="ellipse">
            <a:avLst/>
          </a:prstGeom>
          <a:solidFill>
            <a:srgbClr val="E4572E"/>
          </a:solidFill>
          <a:ln w="12700">
            <a:solidFill>
              <a:srgbClr val="E4572E"/>
            </a:solidFill>
            <a:prstDash val="solid"/>
          </a:ln>
        </p:spPr>
      </p:sp>
      <p:sp>
        <p:nvSpPr>
          <p:cNvPr id="34" name="Text 31"/>
          <p:cNvSpPr txBox="1"/>
          <p:nvPr/>
        </p:nvSpPr>
        <p:spPr>
          <a:xfrm>
            <a:off x="640080" y="9189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35" name="Text 32"/>
          <p:cNvSpPr txBox="1"/>
          <p:nvPr/>
        </p:nvSpPr>
        <p:spPr>
          <a:xfrm>
            <a:off x="1280160" y="9189720"/>
            <a:ext cx="8321040" cy="502920"/>
          </a:xfrm>
          <a:prstGeom prst="rect">
            <a:avLst/>
          </a:prstGeom>
          <a:noFill/>
          <a:ln/>
        </p:spPr>
        <p:txBody>
          <a:bodyPr wrap="square" lIns="0" tIns="0" rIns="0" bIns="0" rtlCol="0" anchor="ctr"/>
          <a:lstStyle/>
          <a:p>
            <a:pPr indent="0" marL="0">
              <a:buNone/>
            </a:pPr>
            <a:r>
              <a:rPr lang="en-US" sz="2400" b="1" dirty="0">
                <a:solidFill>
                  <a:srgbClr val="2B2D42"/>
                </a:solidFill>
                <a:latin typeface="Arial" pitchFamily="34" charset="0"/>
                <a:ea typeface="Arial" pitchFamily="34" charset="-122"/>
                <a:cs typeface="Arial" pitchFamily="34" charset="-120"/>
              </a:rPr>
              <a:t>Classes (OOP)</a:t>
            </a:r>
            <a:endParaRPr lang="en-US" sz="2400" dirty="0"/>
          </a:p>
        </p:txBody>
      </p:sp>
      <p:sp>
        <p:nvSpPr>
          <p:cNvPr id="36" name="Text 33"/>
          <p:cNvSpPr txBox="1"/>
          <p:nvPr/>
        </p:nvSpPr>
        <p:spPr>
          <a:xfrm>
            <a:off x="640080" y="9875520"/>
            <a:ext cx="8961120" cy="3291840"/>
          </a:xfrm>
          <a:prstGeom prst="rect">
            <a:avLst/>
          </a:prstGeom>
          <a:noFill/>
          <a:ln/>
        </p:spPr>
        <p:txBody>
          <a:bodyPr wrap="square" lIns="0" tIns="0" rIns="0" bIns="0" rtlCol="0" anchor="t"/>
          <a:lstStyle/>
          <a:p>
            <a:pPr marL="203200" indent="-203200">
              <a:spcAft>
                <a:spcPts val="600"/>
              </a:spcAft>
              <a:buSzPct val="100000"/>
              <a:buChar char="•"/>
            </a:pPr>
            <a:r>
              <a:rPr lang="en-US" sz="1700" b="1" dirty="0">
                <a:solidFill>
                  <a:srgbClr val="2B2D42"/>
                </a:solidFill>
                <a:latin typeface="Arial" pitchFamily="34" charset="0"/>
                <a:ea typeface="Arial" pitchFamily="34" charset="-122"/>
                <a:cs typeface="Arial" pitchFamily="34" charset="-120"/>
              </a:rPr>
              <a:t>Food: </a:t>
            </a:r>
            <a:pPr indent="0" marL="0">
              <a:spcAft>
                <a:spcPts val="600"/>
              </a:spcAft>
              <a:buNone/>
            </a:pPr>
            <a:r>
              <a:rPr lang="en-US" sz="1700" dirty="0">
                <a:solidFill>
                  <a:srgbClr val="2B2D42"/>
                </a:solidFill>
                <a:latin typeface="Arial" pitchFamily="34" charset="0"/>
                <a:ea typeface="Arial" pitchFamily="34" charset="-122"/>
                <a:cs typeface="Arial" pitchFamily="34" charset="-120"/>
              </a:rPr>
              <a:t>name and weight (private fields, encapsulation)</a:t>
            </a:r>
            <a:endParaRPr lang="en-US" sz="1700" dirty="0"/>
          </a:p>
          <a:p>
            <a:pPr marL="203200" indent="-203200">
              <a:spcAft>
                <a:spcPts val="600"/>
              </a:spcAft>
              <a:buSzPct val="100000"/>
              <a:buChar char="•"/>
            </a:pPr>
            <a:r>
              <a:rPr lang="en-US" sz="1700" b="1" dirty="0">
                <a:solidFill>
                  <a:srgbClr val="2B2D42"/>
                </a:solidFill>
                <a:latin typeface="Arial" pitchFamily="34" charset="0"/>
                <a:ea typeface="Arial" pitchFamily="34" charset="-122"/>
                <a:cs typeface="Arial" pitchFamily="34" charset="-120"/>
              </a:rPr>
              <a:t>FoodItem extends Food: </a:t>
            </a:r>
            <a:pPr indent="0" marL="0">
              <a:spcAft>
                <a:spcPts val="600"/>
              </a:spcAft>
              <a:buNone/>
            </a:pPr>
            <a:r>
              <a:rPr lang="en-US" sz="1700" dirty="0">
                <a:solidFill>
                  <a:srgbClr val="2B2D42"/>
                </a:solidFill>
                <a:latin typeface="Arial" pitchFamily="34" charset="0"/>
                <a:ea typeface="Arial" pitchFamily="34" charset="-122"/>
                <a:cs typeface="Arial" pitchFamily="34" charset="-120"/>
              </a:rPr>
              <a:t>adds best-before date and time stored (inheritance)</a:t>
            </a:r>
            <a:endParaRPr lang="en-US" sz="1700" dirty="0"/>
          </a:p>
          <a:p>
            <a:pPr marL="203200" indent="-203200">
              <a:spcAft>
                <a:spcPts val="600"/>
              </a:spcAft>
              <a:buSzPct val="100000"/>
              <a:buChar char="•"/>
            </a:pPr>
            <a:r>
              <a:rPr lang="en-US" sz="1700" b="1" dirty="0">
                <a:solidFill>
                  <a:srgbClr val="2B2D42"/>
                </a:solidFill>
                <a:latin typeface="Arial" pitchFamily="34" charset="0"/>
                <a:ea typeface="Arial" pitchFamily="34" charset="-122"/>
                <a:cs typeface="Arial" pitchFamily="34" charset="-120"/>
              </a:rPr>
              <a:t>StorageOperations: </a:t>
            </a:r>
            <a:pPr indent="0" marL="0">
              <a:spcAft>
                <a:spcPts val="600"/>
              </a:spcAft>
              <a:buNone/>
            </a:pPr>
            <a:r>
              <a:rPr lang="en-US" sz="1700" dirty="0">
                <a:solidFill>
                  <a:srgbClr val="2B2D42"/>
                </a:solidFill>
                <a:latin typeface="Arial" pitchFamily="34" charset="0"/>
                <a:ea typeface="Arial" pitchFamily="34" charset="-122"/>
                <a:cs typeface="Arial" pitchFamily="34" charset="-120"/>
              </a:rPr>
              <a:t>interface listing what the storage must do (abstraction)</a:t>
            </a:r>
            <a:endParaRPr lang="en-US" sz="1700" dirty="0"/>
          </a:p>
          <a:p>
            <a:pPr marL="203200" indent="-203200">
              <a:spcAft>
                <a:spcPts val="600"/>
              </a:spcAft>
              <a:buSzPct val="100000"/>
              <a:buChar char="•"/>
            </a:pPr>
            <a:r>
              <a:rPr lang="en-US" sz="1700" b="1" dirty="0">
                <a:solidFill>
                  <a:srgbClr val="2B2D42"/>
                </a:solidFill>
                <a:latin typeface="Arial" pitchFamily="34" charset="0"/>
                <a:ea typeface="Arial" pitchFamily="34" charset="-122"/>
                <a:cs typeface="Arial" pitchFamily="34" charset="-120"/>
              </a:rPr>
              <a:t>Storage: </a:t>
            </a:r>
            <a:pPr indent="0" marL="0">
              <a:spcAft>
                <a:spcPts val="600"/>
              </a:spcAft>
              <a:buNone/>
            </a:pPr>
            <a:r>
              <a:rPr lang="en-US" sz="1700" dirty="0">
                <a:solidFill>
                  <a:srgbClr val="2B2D42"/>
                </a:solidFill>
                <a:latin typeface="Arial" pitchFamily="34" charset="0"/>
                <a:ea typeface="Arial" pitchFamily="34" charset="-122"/>
                <a:cs typeface="Arial" pitchFamily="34" charset="-120"/>
              </a:rPr>
              <a:t>the circular-array deque, max 8 items</a:t>
            </a:r>
            <a:endParaRPr lang="en-US" sz="1700" dirty="0"/>
          </a:p>
          <a:p>
            <a:pPr marL="203200" indent="-203200">
              <a:spcAft>
                <a:spcPts val="600"/>
              </a:spcAft>
              <a:buSzPct val="100000"/>
              <a:buChar char="•"/>
            </a:pPr>
            <a:r>
              <a:rPr lang="en-US" sz="1700" b="1" dirty="0">
                <a:solidFill>
                  <a:srgbClr val="2B2D42"/>
                </a:solidFill>
                <a:latin typeface="Arial" pitchFamily="34" charset="0"/>
                <a:ea typeface="Arial" pitchFamily="34" charset="-122"/>
                <a:cs typeface="Arial" pitchFamily="34" charset="-120"/>
              </a:rPr>
              <a:t>FastFood: </a:t>
            </a:r>
            <a:pPr indent="0" marL="0">
              <a:spcAft>
                <a:spcPts val="600"/>
              </a:spcAft>
              <a:buNone/>
            </a:pPr>
            <a:r>
              <a:rPr lang="en-US" sz="1700" dirty="0">
                <a:solidFill>
                  <a:srgbClr val="2B2D42"/>
                </a:solidFill>
                <a:latin typeface="Arial" pitchFamily="34" charset="0"/>
                <a:ea typeface="Arial" pitchFamily="34" charset="-122"/>
                <a:cs typeface="Arial" pitchFamily="34" charset="-120"/>
              </a:rPr>
              <a:t>menu loop and input validation</a:t>
            </a:r>
            <a:endParaRPr lang="en-US" sz="1700" dirty="0"/>
          </a:p>
          <a:p>
            <a:pPr marL="203200" indent="-203200">
              <a:spcAft>
                <a:spcPts val="600"/>
              </a:spcAft>
              <a:buSzPct val="100000"/>
              <a:buChar char="•"/>
            </a:pPr>
            <a:r>
              <a:rPr lang="en-US" sz="1700" b="1" dirty="0">
                <a:solidFill>
                  <a:srgbClr val="2B2D42"/>
                </a:solidFill>
                <a:latin typeface="Arial" pitchFamily="34" charset="0"/>
                <a:ea typeface="Arial" pitchFamily="34" charset="-122"/>
                <a:cs typeface="Arial" pitchFamily="34" charset="-120"/>
              </a:rPr>
              <a:t>StorageTest: </a:t>
            </a:r>
            <a:pPr indent="0" marL="0">
              <a:spcAft>
                <a:spcPts val="600"/>
              </a:spcAft>
              <a:buNone/>
            </a:pPr>
            <a:r>
              <a:rPr lang="en-US" sz="1700" dirty="0">
                <a:solidFill>
                  <a:srgbClr val="2B2D42"/>
                </a:solidFill>
                <a:latin typeface="Arial" pitchFamily="34" charset="0"/>
                <a:ea typeface="Arial" pitchFamily="34" charset="-122"/>
                <a:cs typeface="Arial" pitchFamily="34" charset="-120"/>
              </a:rPr>
              <a:t>automatic PASS / FAIL checks</a:t>
            </a:r>
            <a:endParaRPr lang="en-US" sz="1700" dirty="0"/>
          </a:p>
        </p:txBody>
      </p:sp>
      <p:sp>
        <p:nvSpPr>
          <p:cNvPr id="37" name="codeBox"/>
          <p:cNvSpPr/>
          <p:nvPr/>
        </p:nvSpPr>
        <p:spPr>
          <a:xfrm>
            <a:off x="640080" y="13304520"/>
            <a:ext cx="8961120" cy="1234440"/>
          </a:xfrm>
          <a:prstGeom prst="roundRect">
            <a:avLst>
              <a:gd name="adj" fmla="val 5926"/>
            </a:avLst>
          </a:prstGeom>
          <a:solidFill>
            <a:srgbClr val="2B2D42"/>
          </a:solidFill>
          <a:ln w="12700">
            <a:solidFill>
              <a:srgbClr val="2B2D42"/>
            </a:solidFill>
            <a:prstDash val="solid"/>
          </a:ln>
        </p:spPr>
      </p:sp>
      <p:sp>
        <p:nvSpPr>
          <p:cNvPr id="38" name="Text 35"/>
          <p:cNvSpPr txBox="1"/>
          <p:nvPr/>
        </p:nvSpPr>
        <p:spPr>
          <a:xfrm>
            <a:off x="868680" y="13441680"/>
            <a:ext cx="8503920" cy="96012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FoodItem item = new FoodItem("Pizza", 300, date);</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storage.addFront(item);   // false if full</a:t>
            </a:r>
            <a:endParaRPr lang="en-US" sz="1300" dirty="0"/>
          </a:p>
          <a:p>
            <a:pPr indent="0" marL="0">
              <a:buNone/>
            </a:pPr>
            <a:r>
              <a:rPr lang="en-US" sz="1300" dirty="0">
                <a:solidFill>
                  <a:srgbClr val="FFFFFF"/>
                </a:solidFill>
                <a:latin typeface="Courier New" pitchFamily="34" charset="0"/>
                <a:ea typeface="Courier New" pitchFamily="34" charset="-122"/>
                <a:cs typeface="Courier New" pitchFamily="34" charset="-120"/>
              </a:rPr>
              <a:t>FoodItem top = storage.peek();  // null if empty</a:t>
            </a:r>
            <a:endParaRPr lang="en-US" sz="1300" dirty="0"/>
          </a:p>
        </p:txBody>
      </p:sp>
      <p:sp>
        <p:nvSpPr>
          <p:cNvPr id="39" name="badge3"/>
          <p:cNvSpPr/>
          <p:nvPr/>
        </p:nvSpPr>
        <p:spPr>
          <a:xfrm>
            <a:off x="10058400" y="2194560"/>
            <a:ext cx="502920" cy="502920"/>
          </a:xfrm>
          <a:prstGeom prst="ellipse">
            <a:avLst/>
          </a:prstGeom>
          <a:solidFill>
            <a:srgbClr val="E4572E"/>
          </a:solidFill>
          <a:ln w="12700">
            <a:solidFill>
              <a:srgbClr val="E4572E"/>
            </a:solidFill>
            <a:prstDash val="solid"/>
          </a:ln>
        </p:spPr>
      </p:sp>
      <p:sp>
        <p:nvSpPr>
          <p:cNvPr id="40" name="Text 37"/>
          <p:cNvSpPr txBox="1"/>
          <p:nvPr/>
        </p:nvSpPr>
        <p:spPr>
          <a:xfrm>
            <a:off x="10058400" y="21945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41" name="Text 38"/>
          <p:cNvSpPr txBox="1"/>
          <p:nvPr/>
        </p:nvSpPr>
        <p:spPr>
          <a:xfrm>
            <a:off x="10698480" y="2194560"/>
            <a:ext cx="8321040" cy="502920"/>
          </a:xfrm>
          <a:prstGeom prst="rect">
            <a:avLst/>
          </a:prstGeom>
          <a:noFill/>
          <a:ln/>
        </p:spPr>
        <p:txBody>
          <a:bodyPr wrap="square" lIns="0" tIns="0" rIns="0" bIns="0" rtlCol="0" anchor="ctr"/>
          <a:lstStyle/>
          <a:p>
            <a:pPr indent="0" marL="0">
              <a:buNone/>
            </a:pPr>
            <a:r>
              <a:rPr lang="en-US" sz="2400" b="1" dirty="0">
                <a:solidFill>
                  <a:srgbClr val="2B2D42"/>
                </a:solidFill>
                <a:latin typeface="Arial" pitchFamily="34" charset="0"/>
                <a:ea typeface="Arial" pitchFamily="34" charset="-122"/>
                <a:cs typeface="Arial" pitchFamily="34" charset="-120"/>
              </a:rPr>
              <a:t>Data structure: deque on a circular array</a:t>
            </a:r>
            <a:endParaRPr lang="en-US" sz="2400" dirty="0"/>
          </a:p>
        </p:txBody>
      </p:sp>
      <p:sp>
        <p:nvSpPr>
          <p:cNvPr id="42" name="Text 39"/>
          <p:cNvSpPr txBox="1"/>
          <p:nvPr/>
        </p:nvSpPr>
        <p:spPr>
          <a:xfrm>
            <a:off x="10058400" y="2834640"/>
            <a:ext cx="8961120" cy="246888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2B2D42"/>
                </a:solidFill>
                <a:latin typeface="Arial" pitchFamily="34" charset="0"/>
                <a:ea typeface="Arial" pitchFamily="34" charset="-122"/>
                <a:cs typeface="Arial" pitchFamily="34" charset="-120"/>
              </a:rPr>
              <a:t>A deque (double-ended queue) allows adding and removing at both ends.</a:t>
            </a:r>
            <a:endParaRPr lang="en-US" sz="1800" dirty="0"/>
          </a:p>
          <a:p>
            <a:pPr marL="203200" indent="-203200">
              <a:spcAft>
                <a:spcPts val="600"/>
              </a:spcAft>
              <a:buSzPct val="100000"/>
              <a:buChar char="•"/>
            </a:pPr>
            <a:r>
              <a:rPr lang="en-US" sz="1800" dirty="0">
                <a:solidFill>
                  <a:srgbClr val="2B2D42"/>
                </a:solidFill>
                <a:latin typeface="Arial" pitchFamily="34" charset="0"/>
                <a:ea typeface="Arial" pitchFamily="34" charset="-122"/>
                <a:cs typeface="Arial" pitchFamily="34" charset="-120"/>
              </a:rPr>
              <a:t>An array of 8 slots, plus two numbers: front (index of the front item) and count (items stored).</a:t>
            </a:r>
            <a:endParaRPr lang="en-US" sz="1800" dirty="0"/>
          </a:p>
          <a:p>
            <a:pPr marL="203200" indent="-203200">
              <a:spcAft>
                <a:spcPts val="600"/>
              </a:spcAft>
              <a:buSzPct val="100000"/>
              <a:buChar char="•"/>
            </a:pPr>
            <a:r>
              <a:rPr lang="en-US" sz="1800" dirty="0">
                <a:solidFill>
                  <a:srgbClr val="2B2D42"/>
                </a:solidFill>
                <a:latin typeface="Arial" pitchFamily="34" charset="0"/>
                <a:ea typeface="Arial" pitchFamily="34" charset="-122"/>
                <a:cs typeface="Arial" pitchFamily="34" charset="-120"/>
              </a:rPr>
              <a:t>The modulo operator % 8 makes the index wrap around: after slot 7 comes slot 0, so nothing is ever shifted.</a:t>
            </a:r>
            <a:endParaRPr lang="en-US" sz="1800" dirty="0"/>
          </a:p>
        </p:txBody>
      </p:sp>
      <p:sp>
        <p:nvSpPr>
          <p:cNvPr id="43" name="formulaBox"/>
          <p:cNvSpPr/>
          <p:nvPr/>
        </p:nvSpPr>
        <p:spPr>
          <a:xfrm>
            <a:off x="10058400" y="5394960"/>
            <a:ext cx="8961120" cy="1417320"/>
          </a:xfrm>
          <a:prstGeom prst="roundRect">
            <a:avLst>
              <a:gd name="adj" fmla="val 5161"/>
            </a:avLst>
          </a:prstGeom>
          <a:solidFill>
            <a:srgbClr val="2B2D42"/>
          </a:solidFill>
          <a:ln w="12700">
            <a:solidFill>
              <a:srgbClr val="2B2D42"/>
            </a:solidFill>
            <a:prstDash val="solid"/>
          </a:ln>
        </p:spPr>
      </p:sp>
      <p:sp>
        <p:nvSpPr>
          <p:cNvPr id="44" name="Text 41"/>
          <p:cNvSpPr txBox="1"/>
          <p:nvPr/>
        </p:nvSpPr>
        <p:spPr>
          <a:xfrm>
            <a:off x="10287000" y="5486400"/>
            <a:ext cx="8503920" cy="123444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add front:     front = (front - 1 + 8) % 8</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remove front:  front = (front + 1) % 8</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back index:    (front + count - 1) % 8</a:t>
            </a:r>
            <a:endParaRPr lang="en-US" sz="1400" dirty="0"/>
          </a:p>
        </p:txBody>
      </p:sp>
      <p:sp>
        <p:nvSpPr>
          <p:cNvPr id="45" name="Text 42"/>
          <p:cNvSpPr txBox="1"/>
          <p:nvPr/>
        </p:nvSpPr>
        <p:spPr>
          <a:xfrm>
            <a:off x="10058400" y="7132320"/>
            <a:ext cx="8961120" cy="411480"/>
          </a:xfrm>
          <a:prstGeom prst="rect">
            <a:avLst/>
          </a:prstGeom>
          <a:noFill/>
          <a:ln/>
        </p:spPr>
        <p:txBody>
          <a:bodyPr wrap="square" lIns="0" tIns="0" rIns="0" bIns="0" rtlCol="0" anchor="t"/>
          <a:lstStyle/>
          <a:p>
            <a:pPr indent="0" marL="0">
              <a:buNone/>
            </a:pPr>
            <a:r>
              <a:rPr lang="en-US" sz="2000" b="1" dirty="0">
                <a:solidFill>
                  <a:srgbClr val="2B2D42"/>
                </a:solidFill>
                <a:latin typeface="Arial" pitchFamily="34" charset="0"/>
                <a:ea typeface="Arial" pitchFamily="34" charset="-122"/>
                <a:cs typeface="Arial" pitchFamily="34" charset="-120"/>
              </a:rPr>
              <a:t>Why this structure fits</a:t>
            </a:r>
            <a:endParaRPr lang="en-US" sz="2000" dirty="0"/>
          </a:p>
        </p:txBody>
      </p:sp>
      <p:sp>
        <p:nvSpPr>
          <p:cNvPr id="46" name="Text 43"/>
          <p:cNvSpPr txBox="1"/>
          <p:nvPr/>
        </p:nvSpPr>
        <p:spPr>
          <a:xfrm>
            <a:off x="10058400" y="7635240"/>
            <a:ext cx="8961120" cy="237744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2B2D42"/>
                </a:solidFill>
                <a:latin typeface="Arial" pitchFamily="34" charset="0"/>
                <a:ea typeface="Arial" pitchFamily="34" charset="-122"/>
                <a:cs typeface="Arial" pitchFamily="34" charset="-120"/>
              </a:rPr>
              <a:t>Fixed capacity of 8, so an array needs no resizing.</a:t>
            </a:r>
            <a:endParaRPr lang="en-US" sz="1800" dirty="0"/>
          </a:p>
          <a:p>
            <a:pPr marL="203200" indent="-203200">
              <a:spcAft>
                <a:spcPts val="600"/>
              </a:spcAft>
              <a:buSzPct val="100000"/>
              <a:buChar char="•"/>
            </a:pPr>
            <a:r>
              <a:rPr lang="en-US" sz="1800" dirty="0">
                <a:solidFill>
                  <a:srgbClr val="2B2D42"/>
                </a:solidFill>
                <a:latin typeface="Arial" pitchFamily="34" charset="0"/>
                <a:ea typeface="Arial" pitchFamily="34" charset="-122"/>
                <a:cs typeface="Arial" pitchFamily="34" charset="-120"/>
              </a:rPr>
              <a:t>A plain array would shift items when adding at the front (O(n)); the circular array only moves an index (O(1)).</a:t>
            </a:r>
            <a:endParaRPr lang="en-US" sz="1800" dirty="0"/>
          </a:p>
          <a:p>
            <a:pPr marL="203200" indent="-203200">
              <a:spcAft>
                <a:spcPts val="600"/>
              </a:spcAft>
              <a:buSzPct val="100000"/>
              <a:buChar char="•"/>
            </a:pPr>
            <a:r>
              <a:rPr lang="en-US" sz="1800" dirty="0">
                <a:solidFill>
                  <a:srgbClr val="2B2D42"/>
                </a:solidFill>
                <a:latin typeface="Arial" pitchFamily="34" charset="0"/>
                <a:ea typeface="Arial" pitchFamily="34" charset="-122"/>
                <a:cs typeface="Arial" pitchFamily="34" charset="-120"/>
              </a:rPr>
              <a:t>Both ends are needed, so a deque fits better than a stack or queue.</a:t>
            </a:r>
            <a:endParaRPr lang="en-US" sz="1800" dirty="0"/>
          </a:p>
        </p:txBody>
      </p:sp>
      <p:sp>
        <p:nvSpPr>
          <p:cNvPr id="47" name="badge4"/>
          <p:cNvSpPr/>
          <p:nvPr/>
        </p:nvSpPr>
        <p:spPr>
          <a:xfrm>
            <a:off x="10058400" y="10149840"/>
            <a:ext cx="502920" cy="502920"/>
          </a:xfrm>
          <a:prstGeom prst="ellipse">
            <a:avLst/>
          </a:prstGeom>
          <a:solidFill>
            <a:srgbClr val="E4572E"/>
          </a:solidFill>
          <a:ln w="12700">
            <a:solidFill>
              <a:srgbClr val="E4572E"/>
            </a:solidFill>
            <a:prstDash val="solid"/>
          </a:ln>
        </p:spPr>
      </p:sp>
      <p:sp>
        <p:nvSpPr>
          <p:cNvPr id="48" name="Text 45"/>
          <p:cNvSpPr txBox="1"/>
          <p:nvPr/>
        </p:nvSpPr>
        <p:spPr>
          <a:xfrm>
            <a:off x="10058400" y="101498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49" name="Text 46"/>
          <p:cNvSpPr txBox="1"/>
          <p:nvPr/>
        </p:nvSpPr>
        <p:spPr>
          <a:xfrm>
            <a:off x="10698480" y="10149840"/>
            <a:ext cx="8321040" cy="502920"/>
          </a:xfrm>
          <a:prstGeom prst="rect">
            <a:avLst/>
          </a:prstGeom>
          <a:noFill/>
          <a:ln/>
        </p:spPr>
        <p:txBody>
          <a:bodyPr wrap="square" lIns="0" tIns="0" rIns="0" bIns="0" rtlCol="0" anchor="ctr"/>
          <a:lstStyle/>
          <a:p>
            <a:pPr indent="0" marL="0">
              <a:buNone/>
            </a:pPr>
            <a:r>
              <a:rPr lang="en-US" sz="2400" b="1" dirty="0">
                <a:solidFill>
                  <a:srgbClr val="2B2D42"/>
                </a:solidFill>
                <a:latin typeface="Arial" pitchFamily="34" charset="0"/>
                <a:ea typeface="Arial" pitchFamily="34" charset="-122"/>
                <a:cs typeface="Arial" pitchFamily="34" charset="-120"/>
              </a:rPr>
              <a:t>Algorithms and time complexity</a:t>
            </a:r>
            <a:endParaRPr lang="en-US" sz="2400" dirty="0"/>
          </a:p>
        </p:txBody>
      </p:sp>
      <p:graphicFrame>
        <p:nvGraphicFramePr>
          <p:cNvPr id="2" name="complexityTable"/>
          <p:cNvGraphicFramePr>
            <a:graphicFrameLocks noGrp="1"/>
          </p:cNvGraphicFramePr>
          <p:nvPr>
            <p:extLst>
              <p:ext uri="{D42A27DB-BD31-4B8C-83A1-F6EECF244321}">
                <p14:modId xmlns:p14="http://schemas.microsoft.com/office/powerpoint/2010/main" val="1579011935"/>
              </p:ext>
            </p:extLst>
          </p:nvPr>
        </p:nvGraphicFramePr>
        <p:xfrm>
          <a:off x="10058400" y="10835640"/>
          <a:ext cx="8961120" cy="914400"/>
        </p:xfrm>
        <a:graphic>
          <a:graphicData uri="http://schemas.openxmlformats.org/drawingml/2006/table">
            <a:tbl>
              <a:tblPr/>
              <a:tblGrid>
                <a:gridCol w="2194560"/>
                <a:gridCol w="1005840"/>
                <a:gridCol w="5760720"/>
              </a:tblGrid>
              <a:tr h="411480">
                <a:tc>
                  <a:txBody>
                    <a:bodyPr/>
                    <a:lstStyle/>
                    <a:p>
                      <a:pPr indent="0" marL="0">
                        <a:buNone/>
                      </a:pPr>
                      <a:r>
                        <a:rPr lang="en-US" sz="1400" b="1" dirty="0">
                          <a:solidFill>
                            <a:srgbClr val="FFFFFF"/>
                          </a:solidFill>
                          <a:latin typeface="Arial" pitchFamily="34" charset="0"/>
                          <a:ea typeface="Arial" pitchFamily="34" charset="-122"/>
                          <a:cs typeface="Arial" pitchFamily="34" charset="-120"/>
                        </a:rPr>
                        <a:t>Operation</a:t>
                      </a:r>
                      <a:endParaRPr lang="en-US" sz="1400" dirty="0">
                        <a:latin typeface="Arial" charset="0"/>
                        <a:ea typeface="Arial" charset="0"/>
                        <a:cs typeface="Arial" charset="0"/>
                      </a:endParaRPr>
                    </a:p>
                  </a:txBody>
                  <a:tcPr marL="91440" marR="91440" marT="18288" marB="18288"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4572E"/>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Time</a:t>
                      </a:r>
                      <a:endParaRPr lang="en-US" sz="1400" dirty="0">
                        <a:latin typeface="Arial" charset="0"/>
                        <a:ea typeface="Arial" charset="0"/>
                        <a:cs typeface="Arial" charset="0"/>
                      </a:endParaRPr>
                    </a:p>
                  </a:txBody>
                  <a:tcPr marL="91440" marR="91440" marT="18288" marB="18288"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4572E"/>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Why</a:t>
                      </a:r>
                      <a:endParaRPr lang="en-US" sz="1400" dirty="0">
                        <a:latin typeface="Arial" charset="0"/>
                        <a:ea typeface="Arial" charset="0"/>
                        <a:cs typeface="Arial" charset="0"/>
                      </a:endParaRPr>
                    </a:p>
                  </a:txBody>
                  <a:tcPr marL="91440" marR="91440" marT="18288" marB="18288"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E4572E"/>
                    </a:solidFill>
                  </a:tcPr>
                </a:tc>
              </a:tr>
              <a:tr h="411480">
                <a:tc>
                  <a:txBody>
                    <a:bodyPr/>
                    <a:lstStyle/>
                    <a:p>
                      <a:pPr indent="0" marL="0">
                        <a:buNone/>
                      </a:pPr>
                      <a:r>
                        <a:rPr lang="en-US" sz="1400" dirty="0">
                          <a:solidFill>
                            <a:srgbClr val="2B2D42"/>
                          </a:solidFill>
                          <a:latin typeface="Arial" pitchFamily="34" charset="0"/>
                          <a:ea typeface="Arial" pitchFamily="34" charset="-122"/>
                          <a:cs typeface="Arial" pitchFamily="34" charset="-120"/>
                        </a:rPr>
                        <a:t>Add front</a:t>
                      </a:r>
                      <a:endParaRPr lang="en-US" sz="1400" dirty="0">
                        <a:latin typeface="Arial" charset="0"/>
                        <a:ea typeface="Arial" charset="0"/>
                        <a:cs typeface="Arial" charset="0"/>
                      </a:endParaRPr>
                    </a:p>
                  </a:txBody>
                  <a:tcPr marL="91440" marR="91440" marT="18288" marB="18288"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400" b="1" dirty="0">
                          <a:solidFill>
                            <a:srgbClr val="2B2D42"/>
                          </a:solidFill>
                          <a:latin typeface="Arial" pitchFamily="34" charset="0"/>
                          <a:ea typeface="Arial" pitchFamily="34" charset="-122"/>
                          <a:cs typeface="Arial" pitchFamily="34" charset="-120"/>
                        </a:rPr>
                        <a:t>O(1)</a:t>
                      </a:r>
                      <a:endParaRPr lang="en-US" sz="1400" dirty="0">
                        <a:latin typeface="Arial" charset="0"/>
                        <a:ea typeface="Arial" charset="0"/>
                        <a:cs typeface="Arial" charset="0"/>
                      </a:endParaRPr>
                    </a:p>
                  </a:txBody>
                  <a:tcPr marL="91440" marR="91440" marT="18288" marB="18288"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2B2D42"/>
                          </a:solidFill>
                          <a:latin typeface="Arial" pitchFamily="34" charset="0"/>
                          <a:ea typeface="Arial" pitchFamily="34" charset="-122"/>
                          <a:cs typeface="Arial" pitchFamily="34" charset="-120"/>
                        </a:rPr>
                        <a:t>Move front back one step, store item</a:t>
                      </a:r>
                      <a:endParaRPr lang="en-US" sz="1400" dirty="0">
                        <a:latin typeface="Arial" charset="0"/>
                        <a:ea typeface="Arial" charset="0"/>
                        <a:cs typeface="Arial" charset="0"/>
                      </a:endParaRPr>
                    </a:p>
                  </a:txBody>
                  <a:tcPr marL="91440" marR="91440" marT="18288" marB="18288"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11480">
                <a:tc>
                  <a:txBody>
                    <a:bodyPr/>
                    <a:lstStyle/>
                    <a:p>
                      <a:pPr indent="0" marL="0">
                        <a:buNone/>
                      </a:pPr>
                      <a:r>
                        <a:rPr lang="en-US" sz="1400" dirty="0">
                          <a:solidFill>
                            <a:srgbClr val="2B2D42"/>
                          </a:solidFill>
                          <a:latin typeface="Arial" pitchFamily="34" charset="0"/>
                          <a:ea typeface="Arial" pitchFamily="34" charset="-122"/>
                          <a:cs typeface="Arial" pitchFamily="34" charset="-120"/>
                        </a:rPr>
                        <a:t>Remove front</a:t>
                      </a:r>
                      <a:endParaRPr lang="en-US" sz="1400" dirty="0">
                        <a:latin typeface="Arial" charset="0"/>
                        <a:ea typeface="Arial" charset="0"/>
                        <a:cs typeface="Arial" charset="0"/>
                      </a:endParaRPr>
                    </a:p>
                  </a:txBody>
                  <a:tcPr marL="91440" marR="91440" marT="18288" marB="18288"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400" b="1" dirty="0">
                          <a:solidFill>
                            <a:srgbClr val="2B2D42"/>
                          </a:solidFill>
                          <a:latin typeface="Arial" pitchFamily="34" charset="0"/>
                          <a:ea typeface="Arial" pitchFamily="34" charset="-122"/>
                          <a:cs typeface="Arial" pitchFamily="34" charset="-120"/>
                        </a:rPr>
                        <a:t>O(1)</a:t>
                      </a:r>
                      <a:endParaRPr lang="en-US" sz="1400" dirty="0">
                        <a:latin typeface="Arial" charset="0"/>
                        <a:ea typeface="Arial" charset="0"/>
                        <a:cs typeface="Arial" charset="0"/>
                      </a:endParaRPr>
                    </a:p>
                  </a:txBody>
                  <a:tcPr marL="91440" marR="91440" marT="18288" marB="18288"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2B2D42"/>
                          </a:solidFill>
                          <a:latin typeface="Arial" pitchFamily="34" charset="0"/>
                          <a:ea typeface="Arial" pitchFamily="34" charset="-122"/>
                          <a:cs typeface="Arial" pitchFamily="34" charset="-120"/>
                        </a:rPr>
                        <a:t>Read item, move front forward</a:t>
                      </a:r>
                      <a:endParaRPr lang="en-US" sz="1400" dirty="0">
                        <a:latin typeface="Arial" charset="0"/>
                        <a:ea typeface="Arial" charset="0"/>
                        <a:cs typeface="Arial" charset="0"/>
                      </a:endParaRPr>
                    </a:p>
                  </a:txBody>
                  <a:tcPr marL="91440" marR="91440" marT="18288" marB="18288"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11480">
                <a:tc>
                  <a:txBody>
                    <a:bodyPr/>
                    <a:lstStyle/>
                    <a:p>
                      <a:pPr indent="0" marL="0">
                        <a:buNone/>
                      </a:pPr>
                      <a:r>
                        <a:rPr lang="en-US" sz="1400" dirty="0">
                          <a:solidFill>
                            <a:srgbClr val="2B2D42"/>
                          </a:solidFill>
                          <a:latin typeface="Arial" pitchFamily="34" charset="0"/>
                          <a:ea typeface="Arial" pitchFamily="34" charset="-122"/>
                          <a:cs typeface="Arial" pitchFamily="34" charset="-120"/>
                        </a:rPr>
                        <a:t>Remove back</a:t>
                      </a:r>
                      <a:endParaRPr lang="en-US" sz="1400" dirty="0">
                        <a:latin typeface="Arial" charset="0"/>
                        <a:ea typeface="Arial" charset="0"/>
                        <a:cs typeface="Arial" charset="0"/>
                      </a:endParaRPr>
                    </a:p>
                  </a:txBody>
                  <a:tcPr marL="91440" marR="91440" marT="18288" marB="18288"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400" b="1" dirty="0">
                          <a:solidFill>
                            <a:srgbClr val="2B2D42"/>
                          </a:solidFill>
                          <a:latin typeface="Arial" pitchFamily="34" charset="0"/>
                          <a:ea typeface="Arial" pitchFamily="34" charset="-122"/>
                          <a:cs typeface="Arial" pitchFamily="34" charset="-120"/>
                        </a:rPr>
                        <a:t>O(1)</a:t>
                      </a:r>
                      <a:endParaRPr lang="en-US" sz="1400" dirty="0">
                        <a:latin typeface="Arial" charset="0"/>
                        <a:ea typeface="Arial" charset="0"/>
                        <a:cs typeface="Arial" charset="0"/>
                      </a:endParaRPr>
                    </a:p>
                  </a:txBody>
                  <a:tcPr marL="91440" marR="91440" marT="18288" marB="18288"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2B2D42"/>
                          </a:solidFill>
                          <a:latin typeface="Arial" pitchFamily="34" charset="0"/>
                          <a:ea typeface="Arial" pitchFamily="34" charset="-122"/>
                          <a:cs typeface="Arial" pitchFamily="34" charset="-120"/>
                        </a:rPr>
                        <a:t>Back index computed directly</a:t>
                      </a:r>
                      <a:endParaRPr lang="en-US" sz="1400" dirty="0">
                        <a:latin typeface="Arial" charset="0"/>
                        <a:ea typeface="Arial" charset="0"/>
                        <a:cs typeface="Arial" charset="0"/>
                      </a:endParaRPr>
                    </a:p>
                  </a:txBody>
                  <a:tcPr marL="91440" marR="91440" marT="18288" marB="18288"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11480">
                <a:tc>
                  <a:txBody>
                    <a:bodyPr/>
                    <a:lstStyle/>
                    <a:p>
                      <a:pPr indent="0" marL="0">
                        <a:buNone/>
                      </a:pPr>
                      <a:r>
                        <a:rPr lang="en-US" sz="1400" dirty="0">
                          <a:solidFill>
                            <a:srgbClr val="2B2D42"/>
                          </a:solidFill>
                          <a:latin typeface="Arial" pitchFamily="34" charset="0"/>
                          <a:ea typeface="Arial" pitchFamily="34" charset="-122"/>
                          <a:cs typeface="Arial" pitchFamily="34" charset="-120"/>
                        </a:rPr>
                        <a:t>Peek</a:t>
                      </a:r>
                      <a:endParaRPr lang="en-US" sz="1400" dirty="0">
                        <a:latin typeface="Arial" charset="0"/>
                        <a:ea typeface="Arial" charset="0"/>
                        <a:cs typeface="Arial" charset="0"/>
                      </a:endParaRPr>
                    </a:p>
                  </a:txBody>
                  <a:tcPr marL="91440" marR="91440" marT="18288" marB="18288"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400" b="1" dirty="0">
                          <a:solidFill>
                            <a:srgbClr val="2B2D42"/>
                          </a:solidFill>
                          <a:latin typeface="Arial" pitchFamily="34" charset="0"/>
                          <a:ea typeface="Arial" pitchFamily="34" charset="-122"/>
                          <a:cs typeface="Arial" pitchFamily="34" charset="-120"/>
                        </a:rPr>
                        <a:t>O(1)</a:t>
                      </a:r>
                      <a:endParaRPr lang="en-US" sz="1400" dirty="0">
                        <a:latin typeface="Arial" charset="0"/>
                        <a:ea typeface="Arial" charset="0"/>
                        <a:cs typeface="Arial" charset="0"/>
                      </a:endParaRPr>
                    </a:p>
                  </a:txBody>
                  <a:tcPr marL="91440" marR="91440" marT="18288" marB="18288"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2B2D42"/>
                          </a:solidFill>
                          <a:latin typeface="Arial" pitchFamily="34" charset="0"/>
                          <a:ea typeface="Arial" pitchFamily="34" charset="-122"/>
                          <a:cs typeface="Arial" pitchFamily="34" charset="-120"/>
                        </a:rPr>
                        <a:t>Read items[front]</a:t>
                      </a:r>
                      <a:endParaRPr lang="en-US" sz="1400" dirty="0">
                        <a:latin typeface="Arial" charset="0"/>
                        <a:ea typeface="Arial" charset="0"/>
                        <a:cs typeface="Arial" charset="0"/>
                      </a:endParaRPr>
                    </a:p>
                  </a:txBody>
                  <a:tcPr marL="91440" marR="91440" marT="18288" marB="18288"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11480">
                <a:tc>
                  <a:txBody>
                    <a:bodyPr/>
                    <a:lstStyle/>
                    <a:p>
                      <a:pPr indent="0" marL="0">
                        <a:buNone/>
                      </a:pPr>
                      <a:r>
                        <a:rPr lang="en-US" sz="1400" dirty="0">
                          <a:solidFill>
                            <a:srgbClr val="2B2D42"/>
                          </a:solidFill>
                          <a:latin typeface="Arial" pitchFamily="34" charset="0"/>
                          <a:ea typeface="Arial" pitchFamily="34" charset="-122"/>
                          <a:cs typeface="Arial" pitchFamily="34" charset="-120"/>
                        </a:rPr>
                        <a:t>Search</a:t>
                      </a:r>
                      <a:endParaRPr lang="en-US" sz="1400" dirty="0">
                        <a:latin typeface="Arial" charset="0"/>
                        <a:ea typeface="Arial" charset="0"/>
                        <a:cs typeface="Arial" charset="0"/>
                      </a:endParaRPr>
                    </a:p>
                  </a:txBody>
                  <a:tcPr marL="91440" marR="91440" marT="18288" marB="18288"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400" b="1" dirty="0">
                          <a:solidFill>
                            <a:srgbClr val="2B2D42"/>
                          </a:solidFill>
                          <a:latin typeface="Arial" pitchFamily="34" charset="0"/>
                          <a:ea typeface="Arial" pitchFamily="34" charset="-122"/>
                          <a:cs typeface="Arial" pitchFamily="34" charset="-120"/>
                        </a:rPr>
                        <a:t>O(n)</a:t>
                      </a:r>
                      <a:endParaRPr lang="en-US" sz="1400" dirty="0">
                        <a:latin typeface="Arial" charset="0"/>
                        <a:ea typeface="Arial" charset="0"/>
                        <a:cs typeface="Arial" charset="0"/>
                      </a:endParaRPr>
                    </a:p>
                  </a:txBody>
                  <a:tcPr marL="91440" marR="91440" marT="18288" marB="18288"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2B2D42"/>
                          </a:solidFill>
                          <a:latin typeface="Arial" pitchFamily="34" charset="0"/>
                          <a:ea typeface="Arial" pitchFamily="34" charset="-122"/>
                          <a:cs typeface="Arial" pitchFamily="34" charset="-120"/>
                        </a:rPr>
                        <a:t>Linear scan, items are unsorted</a:t>
                      </a:r>
                      <a:endParaRPr lang="en-US" sz="1400" dirty="0">
                        <a:latin typeface="Arial" charset="0"/>
                        <a:ea typeface="Arial" charset="0"/>
                        <a:cs typeface="Arial" charset="0"/>
                      </a:endParaRPr>
                    </a:p>
                  </a:txBody>
                  <a:tcPr marL="91440" marR="91440" marT="18288" marB="18288"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11480">
                <a:tc>
                  <a:txBody>
                    <a:bodyPr/>
                    <a:lstStyle/>
                    <a:p>
                      <a:pPr indent="0" marL="0">
                        <a:buNone/>
                      </a:pPr>
                      <a:r>
                        <a:rPr lang="en-US" sz="1400" dirty="0">
                          <a:solidFill>
                            <a:srgbClr val="2B2D42"/>
                          </a:solidFill>
                          <a:latin typeface="Arial" pitchFamily="34" charset="0"/>
                          <a:ea typeface="Arial" pitchFamily="34" charset="-122"/>
                          <a:cs typeface="Arial" pitchFamily="34" charset="-120"/>
                        </a:rPr>
                        <a:t>Display</a:t>
                      </a:r>
                      <a:endParaRPr lang="en-US" sz="1400" dirty="0">
                        <a:latin typeface="Arial" charset="0"/>
                        <a:ea typeface="Arial" charset="0"/>
                        <a:cs typeface="Arial" charset="0"/>
                      </a:endParaRPr>
                    </a:p>
                  </a:txBody>
                  <a:tcPr marL="91440" marR="91440" marT="18288" marB="18288"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400" b="1" dirty="0">
                          <a:solidFill>
                            <a:srgbClr val="2B2D42"/>
                          </a:solidFill>
                          <a:latin typeface="Arial" pitchFamily="34" charset="0"/>
                          <a:ea typeface="Arial" pitchFamily="34" charset="-122"/>
                          <a:cs typeface="Arial" pitchFamily="34" charset="-120"/>
                        </a:rPr>
                        <a:t>O(n)</a:t>
                      </a:r>
                      <a:endParaRPr lang="en-US" sz="1400" dirty="0">
                        <a:latin typeface="Arial" charset="0"/>
                        <a:ea typeface="Arial" charset="0"/>
                        <a:cs typeface="Arial" charset="0"/>
                      </a:endParaRPr>
                    </a:p>
                  </a:txBody>
                  <a:tcPr marL="91440" marR="91440" marT="18288" marB="18288"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2B2D42"/>
                          </a:solidFill>
                          <a:latin typeface="Arial" pitchFamily="34" charset="0"/>
                          <a:ea typeface="Arial" pitchFamily="34" charset="-122"/>
                          <a:cs typeface="Arial" pitchFamily="34" charset="-120"/>
                        </a:rPr>
                        <a:t>Visits every item once</a:t>
                      </a:r>
                      <a:endParaRPr lang="en-US" sz="1400" dirty="0">
                        <a:latin typeface="Arial" charset="0"/>
                        <a:ea typeface="Arial" charset="0"/>
                        <a:cs typeface="Arial" charset="0"/>
                      </a:endParaRPr>
                    </a:p>
                  </a:txBody>
                  <a:tcPr marL="91440" marR="91440" marT="18288" marB="18288"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51" name="Text 47"/>
          <p:cNvSpPr txBox="1"/>
          <p:nvPr/>
        </p:nvSpPr>
        <p:spPr>
          <a:xfrm>
            <a:off x="10058400" y="13853160"/>
            <a:ext cx="8961120" cy="731520"/>
          </a:xfrm>
          <a:prstGeom prst="rect">
            <a:avLst/>
          </a:prstGeom>
          <a:noFill/>
          <a:ln/>
        </p:spPr>
        <p:txBody>
          <a:bodyPr wrap="square" lIns="0" tIns="0" rIns="0" bIns="0" rtlCol="0" anchor="t"/>
          <a:lstStyle/>
          <a:p>
            <a:pPr indent="0" marL="0">
              <a:buNone/>
            </a:pPr>
            <a:r>
              <a:rPr lang="en-US" sz="1300" dirty="0">
                <a:solidFill>
                  <a:srgbClr val="595959"/>
                </a:solidFill>
                <a:latin typeface="Arial" pitchFamily="34" charset="0"/>
                <a:ea typeface="Arial" pitchFamily="34" charset="-122"/>
                <a:cs typeface="Arial" pitchFamily="34" charset="-120"/>
              </a:rPr>
              <a:t>n is at most 8. isEmpty, isFull and size are O(1). Space is O(1): the array is always 8 slots.</a:t>
            </a:r>
            <a:endParaRPr lang="en-US" sz="1300" dirty="0"/>
          </a:p>
        </p:txBody>
      </p:sp>
      <p:sp>
        <p:nvSpPr>
          <p:cNvPr id="52" name="badge5"/>
          <p:cNvSpPr/>
          <p:nvPr/>
        </p:nvSpPr>
        <p:spPr>
          <a:xfrm>
            <a:off x="19568160" y="2194560"/>
            <a:ext cx="502920" cy="502920"/>
          </a:xfrm>
          <a:prstGeom prst="ellipse">
            <a:avLst/>
          </a:prstGeom>
          <a:solidFill>
            <a:srgbClr val="E4572E"/>
          </a:solidFill>
          <a:ln w="12700">
            <a:solidFill>
              <a:srgbClr val="E4572E"/>
            </a:solidFill>
            <a:prstDash val="solid"/>
          </a:ln>
        </p:spPr>
      </p:sp>
      <p:sp>
        <p:nvSpPr>
          <p:cNvPr id="53" name="Text 49"/>
          <p:cNvSpPr txBox="1"/>
          <p:nvPr/>
        </p:nvSpPr>
        <p:spPr>
          <a:xfrm>
            <a:off x="19568160" y="21945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54" name="Text 50"/>
          <p:cNvSpPr txBox="1"/>
          <p:nvPr/>
        </p:nvSpPr>
        <p:spPr>
          <a:xfrm>
            <a:off x="20208240" y="2194560"/>
            <a:ext cx="8138160" cy="502920"/>
          </a:xfrm>
          <a:prstGeom prst="rect">
            <a:avLst/>
          </a:prstGeom>
          <a:noFill/>
          <a:ln/>
        </p:spPr>
        <p:txBody>
          <a:bodyPr wrap="square" lIns="0" tIns="0" rIns="0" bIns="0" rtlCol="0" anchor="ctr"/>
          <a:lstStyle/>
          <a:p>
            <a:pPr indent="0" marL="0">
              <a:buNone/>
            </a:pPr>
            <a:r>
              <a:rPr lang="en-US" sz="2400" b="1" dirty="0">
                <a:solidFill>
                  <a:srgbClr val="2B2D42"/>
                </a:solidFill>
                <a:latin typeface="Arial" pitchFamily="34" charset="0"/>
                <a:ea typeface="Arial" pitchFamily="34" charset="-122"/>
                <a:cs typeface="Arial" pitchFamily="34" charset="-120"/>
              </a:rPr>
              <a:t>Running the application and validation</a:t>
            </a:r>
            <a:endParaRPr lang="en-US" sz="2400" dirty="0"/>
          </a:p>
        </p:txBody>
      </p:sp>
      <p:sp>
        <p:nvSpPr>
          <p:cNvPr id="55" name="Text 51"/>
          <p:cNvSpPr txBox="1"/>
          <p:nvPr/>
        </p:nvSpPr>
        <p:spPr>
          <a:xfrm>
            <a:off x="19568160" y="2834640"/>
            <a:ext cx="8778240" cy="2103120"/>
          </a:xfrm>
          <a:prstGeom prst="rect">
            <a:avLst/>
          </a:prstGeom>
          <a:noFill/>
          <a:ln/>
        </p:spPr>
        <p:txBody>
          <a:bodyPr wrap="square" lIns="0" tIns="0" rIns="0" bIns="0" rtlCol="0" anchor="t"/>
          <a:lstStyle/>
          <a:p>
            <a:pPr marL="203200" indent="-203200">
              <a:spcAft>
                <a:spcPts val="600"/>
              </a:spcAft>
              <a:buSzPct val="100000"/>
              <a:buChar char="•"/>
            </a:pPr>
            <a:r>
              <a:rPr lang="en-US" sz="1700" dirty="0">
                <a:solidFill>
                  <a:srgbClr val="2B2D42"/>
                </a:solidFill>
                <a:latin typeface="Arial" pitchFamily="34" charset="0"/>
                <a:ea typeface="Arial" pitchFamily="34" charset="-122"/>
                <a:cs typeface="Arial" pitchFamily="34" charset="-120"/>
              </a:rPr>
              <a:t>Name must be Burger, Pizza, Fries, Sandwich or Hotdog (any capitalization).</a:t>
            </a:r>
            <a:endParaRPr lang="en-US" sz="1700" dirty="0"/>
          </a:p>
          <a:p>
            <a:pPr marL="203200" indent="-203200">
              <a:spcAft>
                <a:spcPts val="600"/>
              </a:spcAft>
              <a:buSzPct val="100000"/>
              <a:buChar char="•"/>
            </a:pPr>
            <a:r>
              <a:rPr lang="en-US" sz="1700" dirty="0">
                <a:solidFill>
                  <a:srgbClr val="2B2D42"/>
                </a:solidFill>
                <a:latin typeface="Arial" pitchFamily="34" charset="0"/>
                <a:ea typeface="Arial" pitchFamily="34" charset="-122"/>
                <a:cs typeface="Arial" pitchFamily="34" charset="-120"/>
              </a:rPr>
              <a:t>Weight must be a number above 0.</a:t>
            </a:r>
            <a:endParaRPr lang="en-US" sz="1700" dirty="0"/>
          </a:p>
          <a:p>
            <a:pPr marL="203200" indent="-203200">
              <a:spcAft>
                <a:spcPts val="600"/>
              </a:spcAft>
              <a:buSzPct val="100000"/>
              <a:buChar char="•"/>
            </a:pPr>
            <a:r>
              <a:rPr lang="en-US" sz="1700" dirty="0">
                <a:solidFill>
                  <a:srgbClr val="2B2D42"/>
                </a:solidFill>
                <a:latin typeface="Arial" pitchFamily="34" charset="0"/>
                <a:ea typeface="Arial" pitchFamily="34" charset="-122"/>
                <a:cs typeface="Arial" pitchFamily="34" charset="-120"/>
              </a:rPr>
              <a:t>Best-before date: YYYY-MM-DD, today up to 2 weeks ahead.</a:t>
            </a:r>
            <a:endParaRPr lang="en-US" sz="1700" dirty="0"/>
          </a:p>
          <a:p>
            <a:pPr marL="203200" indent="-203200">
              <a:spcAft>
                <a:spcPts val="600"/>
              </a:spcAft>
              <a:buSzPct val="100000"/>
              <a:buChar char="•"/>
            </a:pPr>
            <a:r>
              <a:rPr lang="en-US" sz="1700" dirty="0">
                <a:solidFill>
                  <a:srgbClr val="2B2D42"/>
                </a:solidFill>
                <a:latin typeface="Arial" pitchFamily="34" charset="0"/>
                <a:ea typeface="Arial" pitchFamily="34" charset="-122"/>
                <a:cs typeface="Arial" pitchFamily="34" charset="-120"/>
              </a:rPr>
              <a:t>Empty or full storage prints a message instead of crashing.</a:t>
            </a:r>
            <a:endParaRPr lang="en-US" sz="1700" dirty="0"/>
          </a:p>
        </p:txBody>
      </p:sp>
      <p:sp>
        <p:nvSpPr>
          <p:cNvPr id="56" name="shotMenu"/>
          <p:cNvSpPr/>
          <p:nvPr/>
        </p:nvSpPr>
        <p:spPr>
          <a:xfrm>
            <a:off x="19568160" y="5029200"/>
            <a:ext cx="4251960" cy="2286000"/>
          </a:xfrm>
          <a:prstGeom prst="rect">
            <a:avLst/>
          </a:prstGeom>
          <a:solidFill>
            <a:srgbClr val="FFFFFF"/>
          </a:solidFill>
          <a:ln w="19050">
            <a:solidFill>
              <a:srgbClr val="8C8C8C"/>
            </a:solidFill>
            <a:prstDash val="dash"/>
          </a:ln>
        </p:spPr>
      </p:sp>
      <p:sp>
        <p:nvSpPr>
          <p:cNvPr id="57" name="Text 53"/>
          <p:cNvSpPr txBox="1"/>
          <p:nvPr/>
        </p:nvSpPr>
        <p:spPr>
          <a:xfrm>
            <a:off x="19568160" y="5029200"/>
            <a:ext cx="4251960" cy="2286000"/>
          </a:xfrm>
          <a:prstGeom prst="rect">
            <a:avLst/>
          </a:prstGeom>
          <a:noFill/>
          <a:ln/>
        </p:spPr>
        <p:txBody>
          <a:bodyPr wrap="square" lIns="3810" tIns="3810" rIns="3810" bIns="3810" rtlCol="0" anchor="ctr"/>
          <a:lstStyle/>
          <a:p>
            <a:pPr algn="ctr" indent="0" marL="0">
              <a:buNone/>
            </a:pPr>
            <a:r>
              <a:rPr lang="en-US" sz="1400" i="1" dirty="0">
                <a:solidFill>
                  <a:srgbClr val="595959"/>
                </a:solidFill>
                <a:latin typeface="Arial" pitchFamily="34" charset="0"/>
                <a:ea typeface="Arial" pitchFamily="34" charset="-122"/>
                <a:cs typeface="Arial" pitchFamily="34" charset="-120"/>
              </a:rPr>
              <a:t>Screenshot: menu and adding items</a:t>
            </a:r>
            <a:endParaRPr lang="en-US" sz="1400" dirty="0"/>
          </a:p>
        </p:txBody>
      </p:sp>
      <p:sp>
        <p:nvSpPr>
          <p:cNvPr id="58" name="shotInvalid"/>
          <p:cNvSpPr/>
          <p:nvPr/>
        </p:nvSpPr>
        <p:spPr>
          <a:xfrm>
            <a:off x="24094440" y="5029200"/>
            <a:ext cx="4251960" cy="2286000"/>
          </a:xfrm>
          <a:prstGeom prst="rect">
            <a:avLst/>
          </a:prstGeom>
          <a:solidFill>
            <a:srgbClr val="FFFFFF"/>
          </a:solidFill>
          <a:ln w="19050">
            <a:solidFill>
              <a:srgbClr val="8C8C8C"/>
            </a:solidFill>
            <a:prstDash val="dash"/>
          </a:ln>
        </p:spPr>
      </p:sp>
      <p:sp>
        <p:nvSpPr>
          <p:cNvPr id="59" name="Text 55"/>
          <p:cNvSpPr txBox="1"/>
          <p:nvPr/>
        </p:nvSpPr>
        <p:spPr>
          <a:xfrm>
            <a:off x="24094440" y="5029200"/>
            <a:ext cx="4251960" cy="2286000"/>
          </a:xfrm>
          <a:prstGeom prst="rect">
            <a:avLst/>
          </a:prstGeom>
          <a:noFill/>
          <a:ln/>
        </p:spPr>
        <p:txBody>
          <a:bodyPr wrap="square" lIns="3810" tIns="3810" rIns="3810" bIns="3810" rtlCol="0" anchor="ctr"/>
          <a:lstStyle/>
          <a:p>
            <a:pPr algn="ctr" indent="0" marL="0">
              <a:buNone/>
            </a:pPr>
            <a:r>
              <a:rPr lang="en-US" sz="1400" i="1" dirty="0">
                <a:solidFill>
                  <a:srgbClr val="595959"/>
                </a:solidFill>
                <a:latin typeface="Arial" pitchFamily="34" charset="0"/>
                <a:ea typeface="Arial" pitchFamily="34" charset="-122"/>
                <a:cs typeface="Arial" pitchFamily="34" charset="-120"/>
              </a:rPr>
              <a:t>Screenshot: invalid name, weight and date messages</a:t>
            </a:r>
            <a:endParaRPr lang="en-US" sz="1400" dirty="0"/>
          </a:p>
        </p:txBody>
      </p:sp>
      <p:sp>
        <p:nvSpPr>
          <p:cNvPr id="60" name="shotFullEmpty"/>
          <p:cNvSpPr/>
          <p:nvPr/>
        </p:nvSpPr>
        <p:spPr>
          <a:xfrm>
            <a:off x="19568160" y="7498080"/>
            <a:ext cx="4251960" cy="2286000"/>
          </a:xfrm>
          <a:prstGeom prst="rect">
            <a:avLst/>
          </a:prstGeom>
          <a:solidFill>
            <a:srgbClr val="FFFFFF"/>
          </a:solidFill>
          <a:ln w="19050">
            <a:solidFill>
              <a:srgbClr val="8C8C8C"/>
            </a:solidFill>
            <a:prstDash val="dash"/>
          </a:ln>
        </p:spPr>
      </p:sp>
      <p:sp>
        <p:nvSpPr>
          <p:cNvPr id="61" name="Text 57"/>
          <p:cNvSpPr txBox="1"/>
          <p:nvPr/>
        </p:nvSpPr>
        <p:spPr>
          <a:xfrm>
            <a:off x="19568160" y="7498080"/>
            <a:ext cx="4251960" cy="2286000"/>
          </a:xfrm>
          <a:prstGeom prst="rect">
            <a:avLst/>
          </a:prstGeom>
          <a:noFill/>
          <a:ln/>
        </p:spPr>
        <p:txBody>
          <a:bodyPr wrap="square" lIns="3810" tIns="3810" rIns="3810" bIns="3810" rtlCol="0" anchor="ctr"/>
          <a:lstStyle/>
          <a:p>
            <a:pPr algn="ctr" indent="0" marL="0">
              <a:buNone/>
            </a:pPr>
            <a:r>
              <a:rPr lang="en-US" sz="1400" i="1" dirty="0">
                <a:solidFill>
                  <a:srgbClr val="595959"/>
                </a:solidFill>
                <a:latin typeface="Arial" pitchFamily="34" charset="0"/>
                <a:ea typeface="Arial" pitchFamily="34" charset="-122"/>
                <a:cs typeface="Arial" pitchFamily="34" charset="-120"/>
              </a:rPr>
              <a:t>Screenshot: 'Storage is full!' and 'Storage is empty!'</a:t>
            </a:r>
            <a:endParaRPr lang="en-US" sz="1400" dirty="0"/>
          </a:p>
        </p:txBody>
      </p:sp>
      <p:sp>
        <p:nvSpPr>
          <p:cNvPr id="62" name="shotTests"/>
          <p:cNvSpPr/>
          <p:nvPr/>
        </p:nvSpPr>
        <p:spPr>
          <a:xfrm>
            <a:off x="24094440" y="7498080"/>
            <a:ext cx="4251960" cy="2286000"/>
          </a:xfrm>
          <a:prstGeom prst="rect">
            <a:avLst/>
          </a:prstGeom>
          <a:solidFill>
            <a:srgbClr val="FFFFFF"/>
          </a:solidFill>
          <a:ln w="19050">
            <a:solidFill>
              <a:srgbClr val="8C8C8C"/>
            </a:solidFill>
            <a:prstDash val="dash"/>
          </a:ln>
        </p:spPr>
      </p:sp>
      <p:sp>
        <p:nvSpPr>
          <p:cNvPr id="63" name="Text 59"/>
          <p:cNvSpPr txBox="1"/>
          <p:nvPr/>
        </p:nvSpPr>
        <p:spPr>
          <a:xfrm>
            <a:off x="24094440" y="7498080"/>
            <a:ext cx="4251960" cy="2286000"/>
          </a:xfrm>
          <a:prstGeom prst="rect">
            <a:avLst/>
          </a:prstGeom>
          <a:noFill/>
          <a:ln/>
        </p:spPr>
        <p:txBody>
          <a:bodyPr wrap="square" lIns="3810" tIns="3810" rIns="3810" bIns="3810" rtlCol="0" anchor="ctr"/>
          <a:lstStyle/>
          <a:p>
            <a:pPr algn="ctr" indent="0" marL="0">
              <a:buNone/>
            </a:pPr>
            <a:r>
              <a:rPr lang="en-US" sz="1400" i="1" dirty="0">
                <a:solidFill>
                  <a:srgbClr val="595959"/>
                </a:solidFill>
                <a:latin typeface="Arial" pitchFamily="34" charset="0"/>
                <a:ea typeface="Arial" pitchFamily="34" charset="-122"/>
                <a:cs typeface="Arial" pitchFamily="34" charset="-120"/>
              </a:rPr>
              <a:t>Screenshot: StorageTest all tests passed</a:t>
            </a:r>
            <a:endParaRPr lang="en-US" sz="1400" dirty="0"/>
          </a:p>
        </p:txBody>
      </p:sp>
      <p:sp>
        <p:nvSpPr>
          <p:cNvPr id="64" name="shotCommits"/>
          <p:cNvSpPr/>
          <p:nvPr/>
        </p:nvSpPr>
        <p:spPr>
          <a:xfrm>
            <a:off x="19568160" y="9966960"/>
            <a:ext cx="8778240" cy="1188720"/>
          </a:xfrm>
          <a:prstGeom prst="rect">
            <a:avLst/>
          </a:prstGeom>
          <a:solidFill>
            <a:srgbClr val="FFFFFF"/>
          </a:solidFill>
          <a:ln w="19050">
            <a:solidFill>
              <a:srgbClr val="8C8C8C"/>
            </a:solidFill>
            <a:prstDash val="dash"/>
          </a:ln>
        </p:spPr>
      </p:sp>
      <p:sp>
        <p:nvSpPr>
          <p:cNvPr id="65" name="Text 61"/>
          <p:cNvSpPr txBox="1"/>
          <p:nvPr/>
        </p:nvSpPr>
        <p:spPr>
          <a:xfrm>
            <a:off x="19568160" y="9966960"/>
            <a:ext cx="8778240" cy="1188720"/>
          </a:xfrm>
          <a:prstGeom prst="rect">
            <a:avLst/>
          </a:prstGeom>
          <a:noFill/>
          <a:ln/>
        </p:spPr>
        <p:txBody>
          <a:bodyPr wrap="square" lIns="3810" tIns="3810" rIns="3810" bIns="3810" rtlCol="0" anchor="ctr"/>
          <a:lstStyle/>
          <a:p>
            <a:pPr algn="ctr" indent="0" marL="0">
              <a:buNone/>
            </a:pPr>
            <a:r>
              <a:rPr lang="en-US" sz="1400" i="1" dirty="0">
                <a:solidFill>
                  <a:srgbClr val="595959"/>
                </a:solidFill>
                <a:latin typeface="Arial" pitchFamily="34" charset="0"/>
                <a:ea typeface="Arial" pitchFamily="34" charset="-122"/>
                <a:cs typeface="Arial" pitchFamily="34" charset="-120"/>
              </a:rPr>
              <a:t>Screenshot: GitHub commits with timestamps</a:t>
            </a:r>
            <a:endParaRPr lang="en-US" sz="1400" dirty="0"/>
          </a:p>
        </p:txBody>
      </p:sp>
      <p:sp>
        <p:nvSpPr>
          <p:cNvPr id="66" name="badge6"/>
          <p:cNvSpPr/>
          <p:nvPr/>
        </p:nvSpPr>
        <p:spPr>
          <a:xfrm>
            <a:off x="19568160" y="11384280"/>
            <a:ext cx="502920" cy="502920"/>
          </a:xfrm>
          <a:prstGeom prst="ellipse">
            <a:avLst/>
          </a:prstGeom>
          <a:solidFill>
            <a:srgbClr val="E4572E"/>
          </a:solidFill>
          <a:ln w="12700">
            <a:solidFill>
              <a:srgbClr val="E4572E"/>
            </a:solidFill>
            <a:prstDash val="solid"/>
          </a:ln>
        </p:spPr>
      </p:sp>
      <p:sp>
        <p:nvSpPr>
          <p:cNvPr id="67" name="Text 63"/>
          <p:cNvSpPr txBox="1"/>
          <p:nvPr/>
        </p:nvSpPr>
        <p:spPr>
          <a:xfrm>
            <a:off x="19568160" y="113842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68" name="Text 64"/>
          <p:cNvSpPr txBox="1"/>
          <p:nvPr/>
        </p:nvSpPr>
        <p:spPr>
          <a:xfrm>
            <a:off x="20208240" y="11384280"/>
            <a:ext cx="8138160" cy="502920"/>
          </a:xfrm>
          <a:prstGeom prst="rect">
            <a:avLst/>
          </a:prstGeom>
          <a:noFill/>
          <a:ln/>
        </p:spPr>
        <p:txBody>
          <a:bodyPr wrap="square" lIns="0" tIns="0" rIns="0" bIns="0" rtlCol="0" anchor="ctr"/>
          <a:lstStyle/>
          <a:p>
            <a:pPr indent="0" marL="0">
              <a:buNone/>
            </a:pPr>
            <a:r>
              <a:rPr lang="en-US" sz="2400" b="1" dirty="0">
                <a:solidFill>
                  <a:srgbClr val="2B2D42"/>
                </a:solidFill>
                <a:latin typeface="Arial" pitchFamily="34" charset="0"/>
                <a:ea typeface="Arial" pitchFamily="34" charset="-122"/>
                <a:cs typeface="Arial" pitchFamily="34" charset="-120"/>
              </a:rPr>
              <a:t>Advantages and limitations</a:t>
            </a:r>
            <a:endParaRPr lang="en-US" sz="2400" dirty="0"/>
          </a:p>
        </p:txBody>
      </p:sp>
      <p:sp>
        <p:nvSpPr>
          <p:cNvPr id="69" name="advCard"/>
          <p:cNvSpPr/>
          <p:nvPr/>
        </p:nvSpPr>
        <p:spPr>
          <a:xfrm>
            <a:off x="19568160" y="12070080"/>
            <a:ext cx="4251960" cy="2514600"/>
          </a:xfrm>
          <a:prstGeom prst="roundRect">
            <a:avLst>
              <a:gd name="adj" fmla="val 4364"/>
            </a:avLst>
          </a:prstGeom>
          <a:solidFill>
            <a:srgbClr val="F2F2F4"/>
          </a:solidFill>
          <a:ln w="12700">
            <a:solidFill>
              <a:srgbClr val="F2F2F4"/>
            </a:solidFill>
            <a:prstDash val="solid"/>
          </a:ln>
        </p:spPr>
      </p:sp>
      <p:sp>
        <p:nvSpPr>
          <p:cNvPr id="70" name="Text 66"/>
          <p:cNvSpPr txBox="1"/>
          <p:nvPr/>
        </p:nvSpPr>
        <p:spPr>
          <a:xfrm>
            <a:off x="19751040" y="12161520"/>
            <a:ext cx="3886200" cy="365760"/>
          </a:xfrm>
          <a:prstGeom prst="rect">
            <a:avLst/>
          </a:prstGeom>
          <a:noFill/>
          <a:ln/>
        </p:spPr>
        <p:txBody>
          <a:bodyPr wrap="square" lIns="0" tIns="0" rIns="0" bIns="0" rtlCol="0" anchor="t"/>
          <a:lstStyle/>
          <a:p>
            <a:pPr indent="0" marL="0">
              <a:buNone/>
            </a:pPr>
            <a:r>
              <a:rPr lang="en-US" sz="1700" b="1" dirty="0">
                <a:solidFill>
                  <a:srgbClr val="E4572E"/>
                </a:solidFill>
                <a:latin typeface="Arial" pitchFamily="34" charset="0"/>
                <a:ea typeface="Arial" pitchFamily="34" charset="-122"/>
                <a:cs typeface="Arial" pitchFamily="34" charset="-120"/>
              </a:rPr>
              <a:t>Advantages</a:t>
            </a:r>
            <a:endParaRPr lang="en-US" sz="1700" dirty="0"/>
          </a:p>
        </p:txBody>
      </p:sp>
      <p:sp>
        <p:nvSpPr>
          <p:cNvPr id="71" name="Text 67"/>
          <p:cNvSpPr txBox="1"/>
          <p:nvPr/>
        </p:nvSpPr>
        <p:spPr>
          <a:xfrm>
            <a:off x="19751040" y="12573000"/>
            <a:ext cx="3886200" cy="19202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2B2D42"/>
                </a:solidFill>
                <a:latin typeface="Arial" pitchFamily="34" charset="0"/>
                <a:ea typeface="Arial" pitchFamily="34" charset="-122"/>
                <a:cs typeface="Arial" pitchFamily="34" charset="-120"/>
              </a:rPr>
              <a:t>O(1) add, remove and peek</a:t>
            </a:r>
            <a:endParaRPr lang="en-US" sz="1600" dirty="0"/>
          </a:p>
          <a:p>
            <a:pPr marL="203200" indent="-203200">
              <a:spcAft>
                <a:spcPts val="600"/>
              </a:spcAft>
              <a:buSzPct val="100000"/>
              <a:buChar char="•"/>
            </a:pPr>
            <a:r>
              <a:rPr lang="en-US" sz="1600" dirty="0">
                <a:solidFill>
                  <a:srgbClr val="2B2D42"/>
                </a:solidFill>
                <a:latin typeface="Arial" pitchFamily="34" charset="0"/>
                <a:ea typeface="Arial" pitchFamily="34" charset="-122"/>
                <a:cs typeface="Arial" pitchFamily="34" charset="-120"/>
              </a:rPr>
              <a:t>Works at both ends</a:t>
            </a:r>
            <a:endParaRPr lang="en-US" sz="1600" dirty="0"/>
          </a:p>
          <a:p>
            <a:pPr marL="203200" indent="-203200">
              <a:spcAft>
                <a:spcPts val="600"/>
              </a:spcAft>
              <a:buSzPct val="100000"/>
              <a:buChar char="•"/>
            </a:pPr>
            <a:r>
              <a:rPr lang="en-US" sz="1600" dirty="0">
                <a:solidFill>
                  <a:srgbClr val="2B2D42"/>
                </a:solidFill>
                <a:latin typeface="Arial" pitchFamily="34" charset="0"/>
                <a:ea typeface="Arial" pitchFamily="34" charset="-122"/>
                <a:cs typeface="Arial" pitchFamily="34" charset="-120"/>
              </a:rPr>
              <a:t>Fixed memory, no shifting</a:t>
            </a:r>
            <a:endParaRPr lang="en-US" sz="1600" dirty="0"/>
          </a:p>
        </p:txBody>
      </p:sp>
      <p:sp>
        <p:nvSpPr>
          <p:cNvPr id="72" name="limCard"/>
          <p:cNvSpPr/>
          <p:nvPr/>
        </p:nvSpPr>
        <p:spPr>
          <a:xfrm>
            <a:off x="24094440" y="12070080"/>
            <a:ext cx="4251960" cy="2514600"/>
          </a:xfrm>
          <a:prstGeom prst="roundRect">
            <a:avLst>
              <a:gd name="adj" fmla="val 4364"/>
            </a:avLst>
          </a:prstGeom>
          <a:solidFill>
            <a:srgbClr val="F2F2F4"/>
          </a:solidFill>
          <a:ln w="12700">
            <a:solidFill>
              <a:srgbClr val="F2F2F4"/>
            </a:solidFill>
            <a:prstDash val="solid"/>
          </a:ln>
        </p:spPr>
      </p:sp>
      <p:sp>
        <p:nvSpPr>
          <p:cNvPr id="73" name="Text 69"/>
          <p:cNvSpPr txBox="1"/>
          <p:nvPr/>
        </p:nvSpPr>
        <p:spPr>
          <a:xfrm>
            <a:off x="24277320" y="12161520"/>
            <a:ext cx="3886200" cy="365760"/>
          </a:xfrm>
          <a:prstGeom prst="rect">
            <a:avLst/>
          </a:prstGeom>
          <a:noFill/>
          <a:ln/>
        </p:spPr>
        <p:txBody>
          <a:bodyPr wrap="square" lIns="0" tIns="0" rIns="0" bIns="0" rtlCol="0" anchor="t"/>
          <a:lstStyle/>
          <a:p>
            <a:pPr indent="0" marL="0">
              <a:buNone/>
            </a:pPr>
            <a:r>
              <a:rPr lang="en-US" sz="1700" b="1" dirty="0">
                <a:solidFill>
                  <a:srgbClr val="E4572E"/>
                </a:solidFill>
                <a:latin typeface="Arial" pitchFamily="34" charset="0"/>
                <a:ea typeface="Arial" pitchFamily="34" charset="-122"/>
                <a:cs typeface="Arial" pitchFamily="34" charset="-120"/>
              </a:rPr>
              <a:t>Limitations</a:t>
            </a:r>
            <a:endParaRPr lang="en-US" sz="1700" dirty="0"/>
          </a:p>
        </p:txBody>
      </p:sp>
      <p:sp>
        <p:nvSpPr>
          <p:cNvPr id="74" name="Text 70"/>
          <p:cNvSpPr txBox="1"/>
          <p:nvPr/>
        </p:nvSpPr>
        <p:spPr>
          <a:xfrm>
            <a:off x="24277320" y="12573000"/>
            <a:ext cx="3886200" cy="192024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2B2D42"/>
                </a:solidFill>
                <a:latin typeface="Arial" pitchFamily="34" charset="0"/>
                <a:ea typeface="Arial" pitchFamily="34" charset="-122"/>
                <a:cs typeface="Arial" pitchFamily="34" charset="-120"/>
              </a:rPr>
              <a:t>Fixed capacity of 8</a:t>
            </a:r>
            <a:endParaRPr lang="en-US" sz="1600" dirty="0"/>
          </a:p>
          <a:p>
            <a:pPr marL="203200" indent="-203200">
              <a:spcAft>
                <a:spcPts val="600"/>
              </a:spcAft>
              <a:buSzPct val="100000"/>
              <a:buChar char="•"/>
            </a:pPr>
            <a:r>
              <a:rPr lang="en-US" sz="1600" dirty="0">
                <a:solidFill>
                  <a:srgbClr val="2B2D42"/>
                </a:solidFill>
                <a:latin typeface="Arial" pitchFamily="34" charset="0"/>
                <a:ea typeface="Arial" pitchFamily="34" charset="-122"/>
                <a:cs typeface="Arial" pitchFamily="34" charset="-120"/>
              </a:rPr>
              <a:t>Search is O(n)</a:t>
            </a:r>
            <a:endParaRPr lang="en-US" sz="1600" dirty="0"/>
          </a:p>
          <a:p>
            <a:pPr marL="203200" indent="-203200">
              <a:spcAft>
                <a:spcPts val="600"/>
              </a:spcAft>
              <a:buSzPct val="100000"/>
              <a:buChar char="•"/>
            </a:pPr>
            <a:r>
              <a:rPr lang="en-US" sz="1600" dirty="0">
                <a:solidFill>
                  <a:srgbClr val="2B2D42"/>
                </a:solidFill>
                <a:latin typeface="Arial" pitchFamily="34" charset="0"/>
                <a:ea typeface="Arial" pitchFamily="34" charset="-122"/>
                <a:cs typeface="Arial" pitchFamily="34" charset="-120"/>
              </a:rPr>
              <a:t>No sorting by best-before date</a:t>
            </a:r>
            <a:endParaRPr lang="en-US" sz="1600" dirty="0"/>
          </a:p>
          <a:p>
            <a:pPr marL="203200" indent="-203200">
              <a:spcAft>
                <a:spcPts val="600"/>
              </a:spcAft>
              <a:buSzPct val="100000"/>
              <a:buChar char="•"/>
            </a:pPr>
            <a:r>
              <a:rPr lang="en-US" sz="1600" dirty="0">
                <a:solidFill>
                  <a:srgbClr val="2B2D42"/>
                </a:solidFill>
                <a:latin typeface="Arial" pitchFamily="34" charset="0"/>
                <a:ea typeface="Arial" pitchFamily="34" charset="-122"/>
                <a:cs typeface="Arial" pitchFamily="34" charset="-120"/>
              </a:rPr>
              <a:t>No removal from the middle</a:t>
            </a:r>
            <a:endParaRPr lang="en-US" sz="1600" dirty="0"/>
          </a:p>
        </p:txBody>
      </p:sp>
      <p:sp>
        <p:nvSpPr>
          <p:cNvPr id="75" name="Text 71"/>
          <p:cNvSpPr txBox="1"/>
          <p:nvPr/>
        </p:nvSpPr>
        <p:spPr>
          <a:xfrm>
            <a:off x="640080" y="15179040"/>
            <a:ext cx="27706320" cy="548640"/>
          </a:xfrm>
          <a:prstGeom prst="rect">
            <a:avLst/>
          </a:prstGeom>
          <a:noFill/>
          <a:ln/>
        </p:spPr>
        <p:txBody>
          <a:bodyPr wrap="square" lIns="0" tIns="0" rIns="0" bIns="0" rtlCol="0" anchor="t"/>
          <a:lstStyle/>
          <a:p>
            <a:pPr indent="0" marL="0">
              <a:buNone/>
            </a:pPr>
            <a:r>
              <a:rPr lang="en-US" sz="1300" b="1" dirty="0">
                <a:solidFill>
                  <a:srgbClr val="2B2D42"/>
                </a:solidFill>
                <a:latin typeface="Arial" pitchFamily="34" charset="0"/>
                <a:ea typeface="Arial" pitchFamily="34" charset="-122"/>
                <a:cs typeface="Arial" pitchFamily="34" charset="-120"/>
              </a:rPr>
              <a:t>References: </a:t>
            </a:r>
            <a:pPr indent="0" marL="0">
              <a:buNone/>
            </a:pPr>
            <a:r>
              <a:rPr lang="en-US" sz="1300" dirty="0">
                <a:solidFill>
                  <a:srgbClr val="2B2D42"/>
                </a:solidFill>
                <a:highlight>
                  <a:srgbClr val="FFFF00"/>
                </a:highlight>
                <a:latin typeface="Arial" pitchFamily="34" charset="0"/>
                <a:ea typeface="Arial" pitchFamily="34" charset="-122"/>
                <a:cs typeface="Arial" pitchFamily="34" charset="-120"/>
              </a:rPr>
              <a:t>[add the sources you actually used, with access dates]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Storage: a Deque on a Circular Array (Java)</dc:title>
  <dc:subject>PptxGenJS Presentation</dc:subject>
  <dc:creator>PptxGenJS</dc:creator>
  <cp:lastModifiedBy>PptxGenJS</cp:lastModifiedBy>
  <cp:revision>1</cp:revision>
  <dcterms:created xsi:type="dcterms:W3CDTF">2026-10-31T09:41:00Z</dcterms:created>
  <dcterms:modified xsi:type="dcterms:W3CDTF">2026-10-31T09:41:00Z</dcterms:modified>
</cp:coreProperties>
</file>